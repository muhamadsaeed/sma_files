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charset="0"/>
      <p:regular r:id="rId13"/>
    </p:embeddedFont>
    <p:embeddedFont>
      <p:font typeface="Consolas" pitchFamily="49" charset="0"/>
      <p:regular r:id="rId14"/>
      <p:bold r:id="rId15"/>
      <p:italic r:id="rId16"/>
      <p:boldItalic r:id="rId17"/>
    </p:embeddedFont>
    <p:embeddedFont>
      <p:font typeface="Calibri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-744" y="12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50F6F-37D2-4122-AD5A-8ADCF579B3D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9DB1D-9FDE-4EAC-B30A-B52F24528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8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-7-6.svg"/><Relationship Id="rId5" Type="http://schemas.openxmlformats.org/officeDocument/2006/relationships/image" Target="../media/image-7-4.svg"/><Relationship Id="rId4" Type="http://schemas.openxmlformats.org/officeDocument/2006/relationships/image" Target="../media/image-7-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-9-4.svg"/><Relationship Id="rId4" Type="http://schemas.openxmlformats.org/officeDocument/2006/relationships/image" Target="../media/image-9-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-10-4.sv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864162"/>
            <a:ext cx="7416403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Adding Media to Your Webpage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3798" y="3415070"/>
            <a:ext cx="7416403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your website comes alive with sounds and moving pictures! That's what media tags do. They let you put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audio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(sounds) and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(movies) right onto your web page.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3798" y="4629864"/>
            <a:ext cx="74164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will look at these important tags today: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3798" y="5196721"/>
            <a:ext cx="74164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For playing sounds like music or voice recordings.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3798" y="5611416"/>
            <a:ext cx="74164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For showing videos, like short films or animations.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798" y="6026110"/>
            <a:ext cx="74164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To help your browser find the right media file to play.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888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445" y="2670334"/>
            <a:ext cx="6182320" cy="49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&lt;audio&gt; Tag: Play Sounds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00445" y="3430429"/>
            <a:ext cx="6527244" cy="2307193"/>
          </a:xfrm>
          <a:prstGeom prst="roundRect">
            <a:avLst>
              <a:gd name="adj" fmla="val 475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7585" y="3430429"/>
            <a:ext cx="91440" cy="2307193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66907" y="3628311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it does: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6907" y="3981926"/>
            <a:ext cx="6062901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tag adds sound to your webpage. It's like putting a music player directly on your site.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02711" y="3430429"/>
            <a:ext cx="6527244" cy="2307193"/>
          </a:xfrm>
          <a:prstGeom prst="roundRect">
            <a:avLst>
              <a:gd name="adj" fmla="val 475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79851" y="3430429"/>
            <a:ext cx="91440" cy="2307193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669173" y="3628311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Attributes: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69173" y="3981926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Shows play, pause, volume buttons.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69173" y="4321016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Tells the browser where to find the audio file.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69173" y="4660106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Makes the sound play again and again.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69173" y="4999196"/>
            <a:ext cx="6062901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</a:t>
            </a: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Tries to play the sound as soon as the page loads (be careful, some browsers block this).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0445" y="5912644"/>
            <a:ext cx="6527244" cy="1841421"/>
          </a:xfrm>
          <a:prstGeom prst="roundRect">
            <a:avLst>
              <a:gd name="adj" fmla="val 595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7585" y="5912644"/>
            <a:ext cx="91440" cy="1841421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66907" y="6110526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66907" y="6556057"/>
            <a:ext cx="6062901" cy="525304"/>
          </a:xfrm>
          <a:prstGeom prst="roundRect">
            <a:avLst>
              <a:gd name="adj" fmla="val 5000"/>
            </a:avLst>
          </a:prstGeom>
          <a:solidFill>
            <a:srgbClr val="1E1F20"/>
          </a:solidFill>
          <a:ln/>
        </p:spPr>
      </p:sp>
      <p:sp>
        <p:nvSpPr>
          <p:cNvPr id="19" name="Shape 16"/>
          <p:cNvSpPr/>
          <p:nvPr/>
        </p:nvSpPr>
        <p:spPr>
          <a:xfrm>
            <a:off x="958215" y="6556057"/>
            <a:ext cx="6080284" cy="525304"/>
          </a:xfrm>
          <a:prstGeom prst="roundRect">
            <a:avLst>
              <a:gd name="adj" fmla="val 5000"/>
            </a:avLst>
          </a:prstGeom>
          <a:solidFill>
            <a:srgbClr val="1E1F20"/>
          </a:solidFill>
          <a:ln/>
        </p:spPr>
      </p:sp>
      <p:sp>
        <p:nvSpPr>
          <p:cNvPr id="20" name="Text 17"/>
          <p:cNvSpPr/>
          <p:nvPr/>
        </p:nvSpPr>
        <p:spPr>
          <a:xfrm>
            <a:off x="1133237" y="6687383"/>
            <a:ext cx="5730240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 src="sound.mp3"&gt;&lt;/audio&gt;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66907" y="7278291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code will show a player with buttons and play a file named </a:t>
            </a: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sound.mp3</a:t>
            </a: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402711" y="5912644"/>
            <a:ext cx="6527244" cy="1841421"/>
          </a:xfrm>
          <a:prstGeom prst="roundRect">
            <a:avLst>
              <a:gd name="adj" fmla="val 595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79851" y="5912644"/>
            <a:ext cx="91440" cy="1841421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7669173" y="6110526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669173" y="6464141"/>
            <a:ext cx="606290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an audio player to your page with controls so people can play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218" y="685919"/>
            <a:ext cx="1066121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&lt;video&gt; and &lt;source&gt; Tags: Show Videos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5218" y="1648182"/>
            <a:ext cx="4214098" cy="3554611"/>
          </a:xfrm>
          <a:prstGeom prst="roundRect">
            <a:avLst>
              <a:gd name="adj" fmla="val 8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6794" y="1869758"/>
            <a:ext cx="2281118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</a:t>
            </a:r>
            <a:r>
              <a:rPr lang="en-US" sz="17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does: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16794" y="2278975"/>
            <a:ext cx="3770948" cy="89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tag puts a video player on your webpage. You can show movies, clips, or anything with moving pictures!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8032" y="1648182"/>
            <a:ext cx="4214217" cy="3554611"/>
          </a:xfrm>
          <a:prstGeom prst="roundRect">
            <a:avLst>
              <a:gd name="adj" fmla="val 8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9607" y="1869758"/>
            <a:ext cx="2836188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</a:t>
            </a:r>
            <a:r>
              <a:rPr lang="en-US" sz="17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Attributes: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429607" y="2278975"/>
            <a:ext cx="3771067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Shows play, pause, volume, and full-screen buttons.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29607" y="2952631"/>
            <a:ext cx="377106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Sets how wide the video player is.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29607" y="3328035"/>
            <a:ext cx="377106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Sets how tall the video player is.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29607" y="3703439"/>
            <a:ext cx="3771067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poster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Shows an image before the video starts playing.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29607" y="4377095"/>
            <a:ext cx="3771067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Makes the video play again and again.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0964" y="1648182"/>
            <a:ext cx="4214217" cy="3554611"/>
          </a:xfrm>
          <a:prstGeom prst="roundRect">
            <a:avLst>
              <a:gd name="adj" fmla="val 8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2540" y="1869758"/>
            <a:ext cx="242018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</a:t>
            </a:r>
            <a:r>
              <a:rPr lang="en-US" sz="17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does: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842540" y="2278975"/>
            <a:ext cx="3771067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Inside </a:t>
            </a: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you use </a:t>
            </a: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tell the browser where to find video files. You can offer different file types so it works on many browsers.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842540" y="3598783"/>
            <a:ext cx="377106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Where the video file is.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42540" y="3974187"/>
            <a:ext cx="3771067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What kind of video file it is (e.g., </a:t>
            </a: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"video/mp4"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5218" y="5401508"/>
            <a:ext cx="6420564" cy="2142053"/>
          </a:xfrm>
          <a:prstGeom prst="roundRect">
            <a:avLst>
              <a:gd name="adj" fmla="val 139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794" y="562308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16794" y="6129099"/>
            <a:ext cx="5977414" cy="1192887"/>
          </a:xfrm>
          <a:prstGeom prst="roundRect">
            <a:avLst>
              <a:gd name="adj" fmla="val 2500"/>
            </a:avLst>
          </a:prstGeom>
          <a:solidFill>
            <a:srgbClr val="1E1F2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6912" y="6129099"/>
            <a:ext cx="5997178" cy="1192887"/>
          </a:xfrm>
          <a:prstGeom prst="roundRect">
            <a:avLst>
              <a:gd name="adj" fmla="val 2500"/>
            </a:avLst>
          </a:prstGeom>
          <a:solidFill>
            <a:srgbClr val="1E1F20"/>
          </a:solidFill>
          <a:ln/>
        </p:spPr>
      </p:sp>
      <p:sp>
        <p:nvSpPr>
          <p:cNvPr id="22" name="Text 20"/>
          <p:cNvSpPr/>
          <p:nvPr/>
        </p:nvSpPr>
        <p:spPr>
          <a:xfrm>
            <a:off x="1205627" y="6278166"/>
            <a:ext cx="5599748" cy="89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 width="300"&gt;  </a:t>
            </a:r>
            <a:endParaRPr lang="en-US" sz="1550" dirty="0" smtClean="0">
              <a:solidFill>
                <a:srgbClr val="E2E6E9"/>
              </a:solidFill>
              <a:highlight>
                <a:srgbClr val="1E1F20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 smtClean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 src="video.mp4" type="video/mp4</a:t>
            </a:r>
            <a:r>
              <a:rPr lang="en-US" sz="1550" dirty="0" smtClean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 smtClean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video&gt;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4498" y="5401508"/>
            <a:ext cx="6420683" cy="2142053"/>
          </a:xfrm>
          <a:prstGeom prst="roundRect">
            <a:avLst>
              <a:gd name="adj" fmla="val 139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6073" y="562308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36073" y="6024682"/>
            <a:ext cx="5977533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 video player to your page that is 300 pixels wide and has controls. Use one source for the video.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958" y="545902"/>
            <a:ext cx="5666184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Tables: Organising Information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14958" y="1290042"/>
            <a:ext cx="13400484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Tables are great for showing data clearly, like lists of names, numbers, or facts. They use rows and columns to keep everything tidy.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4958" y="1693426"/>
            <a:ext cx="6623328" cy="863560"/>
          </a:xfrm>
          <a:prstGeom prst="roundRect">
            <a:avLst>
              <a:gd name="adj" fmla="val 2671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768668" y="184713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8668" y="2157532"/>
            <a:ext cx="631590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the main tag for your table. Everything else goes inside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91995" y="1693426"/>
            <a:ext cx="6623447" cy="863560"/>
          </a:xfrm>
          <a:prstGeom prst="roundRect">
            <a:avLst>
              <a:gd name="adj" fmla="val 2671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7545705" y="184713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45705" y="2157532"/>
            <a:ext cx="6316028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stands for "table row." Each </a:t>
            </a: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creates a new line in your 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958" y="2710696"/>
            <a:ext cx="6623328" cy="848320"/>
          </a:xfrm>
          <a:prstGeom prst="roundRect">
            <a:avLst>
              <a:gd name="adj" fmla="val 2719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768668" y="286440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668" y="3174802"/>
            <a:ext cx="631590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stands for "table header." These are like the titles for your columns, usually bold and centred.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91995" y="2710696"/>
            <a:ext cx="6623447" cy="848320"/>
          </a:xfrm>
          <a:prstGeom prst="roundRect">
            <a:avLst>
              <a:gd name="adj" fmla="val 2719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7545705" y="286440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45705" y="3174802"/>
            <a:ext cx="631602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stands for "table data." These are the actual pieces of information in each cell of your table.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958" y="3789521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958" y="4238268"/>
            <a:ext cx="13400484" cy="2535555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338" y="4238268"/>
            <a:ext cx="13415724" cy="2535555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19" name="Text 17"/>
          <p:cNvSpPr/>
          <p:nvPr/>
        </p:nvSpPr>
        <p:spPr>
          <a:xfrm>
            <a:off x="761048" y="4353520"/>
            <a:ext cx="13108305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Table -&gt;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              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thead</a:t>
            </a:r>
            <a:r>
              <a:rPr lang="en-US" sz="1200" dirty="0" smtClean="0">
                <a:solidFill>
                  <a:schemeClr val="bg1"/>
                </a:solidFill>
              </a:rPr>
              <a:t> -&gt;  </a:t>
            </a:r>
            <a:r>
              <a:rPr lang="en-US" sz="1200" dirty="0" err="1" smtClean="0">
                <a:solidFill>
                  <a:schemeClr val="bg1"/>
                </a:solidFill>
              </a:rPr>
              <a:t>tr</a:t>
            </a:r>
            <a:r>
              <a:rPr lang="en-US" sz="1200" dirty="0" smtClean="0">
                <a:solidFill>
                  <a:schemeClr val="bg1"/>
                </a:solidFill>
              </a:rPr>
              <a:t> -&gt; </a:t>
            </a:r>
            <a:r>
              <a:rPr lang="en-US" sz="1200" dirty="0" err="1" smtClean="0">
                <a:solidFill>
                  <a:schemeClr val="bg1"/>
                </a:solidFill>
              </a:rPr>
              <a:t>th</a:t>
            </a:r>
            <a:endParaRPr lang="en-US" sz="1200" dirty="0" smtClean="0">
              <a:solidFill>
                <a:schemeClr val="bg1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               </a:t>
            </a:r>
            <a:r>
              <a:rPr lang="en-US" sz="1200" dirty="0" err="1" smtClean="0">
                <a:solidFill>
                  <a:schemeClr val="bg1"/>
                </a:solidFill>
              </a:rPr>
              <a:t>tbody</a:t>
            </a:r>
            <a:r>
              <a:rPr lang="en-US" sz="1200" dirty="0" smtClean="0">
                <a:solidFill>
                  <a:schemeClr val="bg1"/>
                </a:solidFill>
              </a:rPr>
              <a:t> -&gt; </a:t>
            </a:r>
            <a:r>
              <a:rPr lang="en-US" sz="1200" dirty="0" err="1" smtClean="0">
                <a:solidFill>
                  <a:schemeClr val="bg1"/>
                </a:solidFill>
              </a:rPr>
              <a:t>tr</a:t>
            </a:r>
            <a:r>
              <a:rPr lang="en-US" sz="1200" dirty="0" smtClean="0">
                <a:solidFill>
                  <a:schemeClr val="bg1"/>
                </a:solidFill>
              </a:rPr>
              <a:t> -&gt; td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               </a:t>
            </a:r>
            <a:r>
              <a:rPr lang="en-US" sz="1200" dirty="0" err="1" smtClean="0">
                <a:solidFill>
                  <a:schemeClr val="bg1"/>
                </a:solidFill>
              </a:rPr>
              <a:t>tfoot</a:t>
            </a:r>
            <a:r>
              <a:rPr lang="en-US" sz="1200" dirty="0" smtClean="0">
                <a:solidFill>
                  <a:schemeClr val="bg1"/>
                </a:solidFill>
              </a:rPr>
              <a:t> -&gt; </a:t>
            </a:r>
            <a:r>
              <a:rPr lang="en-US" sz="1200" dirty="0" err="1" smtClean="0">
                <a:solidFill>
                  <a:schemeClr val="bg1"/>
                </a:solidFill>
              </a:rPr>
              <a:t>tr</a:t>
            </a:r>
            <a:r>
              <a:rPr lang="en-US" sz="1200" dirty="0" smtClean="0">
                <a:solidFill>
                  <a:schemeClr val="bg1"/>
                </a:solidFill>
              </a:rPr>
              <a:t> -&gt; td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4958" y="7004328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4958" y="7453074"/>
            <a:ext cx="13400484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simple table with 2 rows and 2 columns. Put some data in it, like "Fruit" and "Colour" for the headers, and "Apple" and "Red" for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238" y="398502"/>
            <a:ext cx="7209115" cy="40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Structuring Tables for Better Organisation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4238" y="1093470"/>
            <a:ext cx="13481923" cy="21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tables can have special sections: a head, a body, and a foot. This helps browsers and people understand your table better.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74238" y="1470303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4238" y="1699022"/>
            <a:ext cx="6669167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74238" y="1801177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&lt;caption&gt;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4238" y="2091095"/>
            <a:ext cx="6669167" cy="21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Gives a title to your table. It explains what the table is about.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86876" y="1470303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86876" y="1699022"/>
            <a:ext cx="6669286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86876" y="1801177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86876" y="2091095"/>
            <a:ext cx="666928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holds the header rows (your </a:t>
            </a: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tags). It tells the browser that these are the column titles.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38" y="2572822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4238" y="2801541"/>
            <a:ext cx="6669167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74238" y="2903696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4238" y="3193613"/>
            <a:ext cx="6669167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holds the main data rows (your </a:t>
            </a: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tags). This is where most of your table content goes.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86876" y="2572822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86876" y="2801541"/>
            <a:ext cx="6669286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86876" y="2903696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86876" y="3193613"/>
            <a:ext cx="6669286" cy="21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holds any summary or footer rows for your table, like totals or notes.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4238" y="3747135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4238" y="4166235"/>
            <a:ext cx="13481923" cy="2799874"/>
          </a:xfrm>
          <a:prstGeom prst="roundRect">
            <a:avLst>
              <a:gd name="adj" fmla="val 769"/>
            </a:avLst>
          </a:prstGeom>
          <a:solidFill>
            <a:srgbClr val="1E1F20"/>
          </a:solidFill>
          <a:ln/>
        </p:spPr>
      </p:sp>
      <p:sp>
        <p:nvSpPr>
          <p:cNvPr id="22" name="Shape 20"/>
          <p:cNvSpPr/>
          <p:nvPr/>
        </p:nvSpPr>
        <p:spPr>
          <a:xfrm>
            <a:off x="567095" y="4166235"/>
            <a:ext cx="13496211" cy="2799874"/>
          </a:xfrm>
          <a:prstGeom prst="roundRect">
            <a:avLst>
              <a:gd name="adj" fmla="val 769"/>
            </a:avLst>
          </a:prstGeom>
          <a:solidFill>
            <a:srgbClr val="1E1F20"/>
          </a:solidFill>
          <a:ln/>
        </p:spPr>
      </p:sp>
      <p:sp>
        <p:nvSpPr>
          <p:cNvPr id="23" name="Text 21"/>
          <p:cNvSpPr/>
          <p:nvPr/>
        </p:nvSpPr>
        <p:spPr>
          <a:xfrm>
            <a:off x="710565" y="4273868"/>
            <a:ext cx="13209270" cy="25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  &lt;caption&gt;Students&lt;/caption&gt;  &lt;thead&gt;    &lt;tr&gt;&lt;th&gt;Name&lt;/th&gt;&lt;/tr&gt;  &lt;/thead&gt;  &lt;tbody&gt;    &lt;tr&gt;&lt;td&gt;Ali&lt;/td&gt;&lt;/tr&gt;  &lt;/tbody&gt;  &lt;tfoot&gt;    &lt;tr&gt;&lt;td&gt;End&lt;/td&gt;&lt;/tr&gt;  &lt;/tfoot&gt;&lt;/table&gt;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4238" y="7181374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4238" y="7600474"/>
            <a:ext cx="13481923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Take your previous table. Add a caption to it, and put your header row inside </a:t>
            </a: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66643"/>
            <a:ext cx="11773733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Semantic HTML: Giving Meaning to Your Page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812012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HTML means using tags that describe the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meaning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the content they hold, not just how it looks. This is super important for several reasons: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2702838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search engines: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Helps them understand your page better, so more people can find your website.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3798" y="3102293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screen readers: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Helps people who cannot see your page understand its structure.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3798" y="3501747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other developers: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Makes your code easier to read and work with.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3798" y="4068604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Here are some common semantic tags: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3798" y="4635460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Top part of the page or a section.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3798" y="5050155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Navigation links (menus).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3798" y="5464850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The main content of your page.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3798" y="5879544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big section of content.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3798" y="6294239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piece of independent content, like a blog post.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3798" y="6708934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Content that is related but separate, like a sidebar.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3798" y="7123628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Bottom part of the page or a section.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473" y="510183"/>
            <a:ext cx="9675376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Building Page Structure with Semantic Tags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32473" y="1396722"/>
            <a:ext cx="1316545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tags help you build the basic layout of any webpage, making it easy to understand what each part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2473" y="1877378"/>
            <a:ext cx="4266367" cy="230028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915591" y="2060496"/>
            <a:ext cx="549354" cy="549354"/>
          </a:xfrm>
          <a:prstGeom prst="roundRect">
            <a:avLst>
              <a:gd name="adj" fmla="val 1664334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6681" y="2211467"/>
            <a:ext cx="247174" cy="247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5591" y="2792968"/>
            <a:ext cx="2080974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5591" y="3170515"/>
            <a:ext cx="390013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often at the top of your webpage. It might have your website's logo, title, and sometimes a search bar.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81957" y="1877378"/>
            <a:ext cx="4266367" cy="230028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5365075" y="2060496"/>
            <a:ext cx="549354" cy="549354"/>
          </a:xfrm>
          <a:prstGeom prst="roundRect">
            <a:avLst>
              <a:gd name="adj" fmla="val 16643340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516166" y="2211467"/>
            <a:ext cx="247174" cy="2471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5075" y="2792968"/>
            <a:ext cx="2080974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65075" y="3170515"/>
            <a:ext cx="390013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tag holds all the links that help users move around your website, like "Home", "About Us", or "Contact".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31442" y="1877378"/>
            <a:ext cx="4266486" cy="230028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9814560" y="2060496"/>
            <a:ext cx="549354" cy="549354"/>
          </a:xfrm>
          <a:prstGeom prst="roundRect">
            <a:avLst>
              <a:gd name="adj" fmla="val 16643340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965650" y="2211467"/>
            <a:ext cx="247174" cy="2471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14560" y="2792968"/>
            <a:ext cx="2080974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814560" y="3170515"/>
            <a:ext cx="3900249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for the unique content of your page. There should only be ONE </a:t>
            </a:r>
            <a:r>
              <a:rPr lang="en-US" sz="14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 per page.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32473" y="4452342"/>
            <a:ext cx="2080974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32473" y="4987171"/>
            <a:ext cx="13165455" cy="1647944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1" name="Shape 16"/>
          <p:cNvSpPr/>
          <p:nvPr/>
        </p:nvSpPr>
        <p:spPr>
          <a:xfrm>
            <a:off x="723424" y="4987171"/>
            <a:ext cx="13183552" cy="1647944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2" name="Text 17"/>
          <p:cNvSpPr/>
          <p:nvPr/>
        </p:nvSpPr>
        <p:spPr>
          <a:xfrm>
            <a:off x="906542" y="5124450"/>
            <a:ext cx="12817316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&lt;header&gt;My Website Logo&lt;/header&gt;&lt;nav&gt;&lt;a href="#"&gt;Home&lt;/a&gt;&lt;/nav&gt;&lt;main&gt;  &lt;p&gt;Welcome to my awesome website!&lt;/p&gt;&lt;/main&gt;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32473" y="6909792"/>
            <a:ext cx="2080974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32473" y="7444621"/>
            <a:ext cx="1316545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simple page that has a header with your name, a navigation menu with one link, and a main section with a short welcome message.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583" y="455533"/>
            <a:ext cx="10487978" cy="470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Organising Content with &lt;section&gt;, &lt;article&gt;, &lt;aside&gt;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2583" y="1257300"/>
            <a:ext cx="13305234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Once you have your main layout, these tags help you break down the content into smaller, meaningful parts.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2583" y="1691997"/>
            <a:ext cx="4324588" cy="1622346"/>
          </a:xfrm>
          <a:prstGeom prst="roundRect">
            <a:avLst>
              <a:gd name="adj" fmla="val 153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45" y="1615559"/>
            <a:ext cx="198715" cy="19871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894" y="3192066"/>
            <a:ext cx="198715" cy="1987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3926" y="196334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33926" y="2297906"/>
            <a:ext cx="3781901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groups related content together. Think of it as a chapter in a book. It often has a heading.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152787" y="1691997"/>
            <a:ext cx="4324707" cy="1622346"/>
          </a:xfrm>
          <a:prstGeom prst="roundRect">
            <a:avLst>
              <a:gd name="adj" fmla="val 153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349" y="1615559"/>
            <a:ext cx="198715" cy="19871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217" y="3192066"/>
            <a:ext cx="198715" cy="1987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24130" y="196334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424130" y="2297906"/>
            <a:ext cx="3782020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for self-contained content. It could be a blog post, a news story, or a comment. It should make sense on its own.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9643110" y="1691997"/>
            <a:ext cx="4324707" cy="1622346"/>
          </a:xfrm>
          <a:prstGeom prst="roundRect">
            <a:avLst>
              <a:gd name="adj" fmla="val 153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672" y="1615559"/>
            <a:ext cx="198715" cy="19871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5540" y="3192066"/>
            <a:ext cx="198715" cy="19871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914453" y="196334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9914453" y="2297906"/>
            <a:ext cx="3782020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for content that is related to the main content but separate. For example, a sidebar with related links, ads, or author information.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62583" y="3562826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662583" y="4046577"/>
            <a:ext cx="13305234" cy="2732008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21" name="Shape 13"/>
          <p:cNvSpPr/>
          <p:nvPr/>
        </p:nvSpPr>
        <p:spPr>
          <a:xfrm>
            <a:off x="654368" y="4046577"/>
            <a:ext cx="13321665" cy="2732008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22" name="Text 14"/>
          <p:cNvSpPr/>
          <p:nvPr/>
        </p:nvSpPr>
        <p:spPr>
          <a:xfrm>
            <a:off x="819983" y="4170759"/>
            <a:ext cx="12990433" cy="24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  &lt;h2&gt;Latest Updates&lt;/h2&gt;  &lt;article&gt;    &lt;h3&gt;New HTML Course!&lt;/h3&gt;    &lt;p&gt;Learn all about semantic tags.&lt;/p&gt;  &lt;/article&gt;  &lt;aside&gt;    &lt;p&gt;Check out our other courses!&lt;/p&gt;  &lt;/aside&gt;&lt;/section&gt;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62583" y="7027069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662583" y="7510820"/>
            <a:ext cx="13305234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Inside your </a:t>
            </a: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tag, create a section. Inside that section, add an article about something interesting and an aside with a small related note.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582" y="448628"/>
            <a:ext cx="7802761" cy="46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&lt;footer&gt; and the Versatile &lt;div&gt; Tag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2582" y="1238369"/>
            <a:ext cx="1332523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webpage needs a bottom part, and sometimes you need a simple box to group things together.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2582" y="1911191"/>
            <a:ext cx="6581061" cy="1412796"/>
          </a:xfrm>
          <a:prstGeom prst="roundRect">
            <a:avLst>
              <a:gd name="adj" fmla="val 7767"/>
            </a:avLst>
          </a:prstGeom>
          <a:solidFill>
            <a:srgbClr val="111213"/>
          </a:solidFill>
          <a:ln/>
        </p:spPr>
      </p:sp>
      <p:sp>
        <p:nvSpPr>
          <p:cNvPr id="5" name="Shape 3"/>
          <p:cNvSpPr/>
          <p:nvPr/>
        </p:nvSpPr>
        <p:spPr>
          <a:xfrm>
            <a:off x="652582" y="1888331"/>
            <a:ext cx="6581061" cy="91440"/>
          </a:xfrm>
          <a:prstGeom prst="roundRect">
            <a:avLst>
              <a:gd name="adj" fmla="val 267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98379" y="1666518"/>
            <a:ext cx="489466" cy="489466"/>
          </a:xfrm>
          <a:prstGeom prst="roundRect">
            <a:avLst>
              <a:gd name="adj" fmla="val 18681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845183" y="1813322"/>
            <a:ext cx="195739" cy="195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557" y="2319099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8557" y="2648664"/>
            <a:ext cx="620910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goes at the bottom of your page or a section. It often contains copyright info, contact details, or links to privacy policies.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96758" y="1911191"/>
            <a:ext cx="6581061" cy="1412796"/>
          </a:xfrm>
          <a:prstGeom prst="roundRect">
            <a:avLst>
              <a:gd name="adj" fmla="val 7767"/>
            </a:avLst>
          </a:prstGeom>
          <a:solidFill>
            <a:srgbClr val="111213"/>
          </a:solidFill>
          <a:ln/>
        </p:spPr>
      </p:sp>
      <p:sp>
        <p:nvSpPr>
          <p:cNvPr id="11" name="Shape 8"/>
          <p:cNvSpPr/>
          <p:nvPr/>
        </p:nvSpPr>
        <p:spPr>
          <a:xfrm>
            <a:off x="7396758" y="1888331"/>
            <a:ext cx="6581061" cy="91440"/>
          </a:xfrm>
          <a:prstGeom prst="roundRect">
            <a:avLst>
              <a:gd name="adj" fmla="val 2676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0442555" y="1666518"/>
            <a:ext cx="489466" cy="489466"/>
          </a:xfrm>
          <a:prstGeom prst="roundRect">
            <a:avLst>
              <a:gd name="adj" fmla="val 186816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589359" y="1813322"/>
            <a:ext cx="195739" cy="1957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2733" y="2319099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582733" y="2648664"/>
            <a:ext cx="620910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a "division" or a simple container. It doesn't have special meaning like semantic tags, but it's very useful for grouping elements for styling.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2582" y="3568660"/>
            <a:ext cx="2103477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</a:t>
            </a: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Attributes: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2582" y="4045029"/>
            <a:ext cx="1332523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name you give to a group of elements. You can use this name many times.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2582" y="4361974"/>
            <a:ext cx="1332523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unique name for one specific element. You can only use this name once per page.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2582" y="4866561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52582" y="5342930"/>
            <a:ext cx="13325237" cy="1467922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1" name="Shape 17"/>
          <p:cNvSpPr/>
          <p:nvPr/>
        </p:nvSpPr>
        <p:spPr>
          <a:xfrm>
            <a:off x="644485" y="5342930"/>
            <a:ext cx="13341429" cy="1467922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2" name="Text 18"/>
          <p:cNvSpPr/>
          <p:nvPr/>
        </p:nvSpPr>
        <p:spPr>
          <a:xfrm>
            <a:off x="807601" y="5465207"/>
            <a:ext cx="13015198" cy="122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class="contact-info"&gt;  &lt;footer&gt;    &lt;p&gt;Contact me at info@example.com&lt;/p&gt;  &lt;/footer&gt;&lt;/div&gt;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52582" y="7531894"/>
            <a:ext cx="1332523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50" dirty="0"/>
          </a:p>
        </p:txBody>
      </p:sp>
      <p:sp>
        <p:nvSpPr>
          <p:cNvPr id="25" name="TextBox 24"/>
          <p:cNvSpPr txBox="1"/>
          <p:nvPr/>
        </p:nvSpPr>
        <p:spPr>
          <a:xfrm>
            <a:off x="652583" y="7084194"/>
            <a:ext cx="1013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Some tags we forget to explain: style, link, and script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5940" y="588407"/>
            <a:ext cx="12174379" cy="60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Final HTML Project: Build a Small Portfolio!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55940" y="1624251"/>
            <a:ext cx="12918519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Now you have learned many HTML tags! It's time to build your very first project. You will create a simple portfolio webpage to show what you can do.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55940" y="2506742"/>
            <a:ext cx="12918519" cy="4251960"/>
          </a:xfrm>
          <a:prstGeom prst="roundRect">
            <a:avLst>
              <a:gd name="adj" fmla="val 755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855940" y="2506742"/>
            <a:ext cx="6459260" cy="1928098"/>
          </a:xfrm>
          <a:prstGeom prst="roundRect">
            <a:avLst>
              <a:gd name="adj" fmla="val 1665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069896" y="2720697"/>
            <a:ext cx="2480191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Semantic Structure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69896" y="3152894"/>
            <a:ext cx="571035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69896" y="3900011"/>
            <a:ext cx="571035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makes your page meaningful and organised.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0" y="2506742"/>
            <a:ext cx="6459260" cy="19280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2506742"/>
            <a:ext cx="30480" cy="1928098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11" name="Text 9"/>
          <p:cNvSpPr/>
          <p:nvPr/>
        </p:nvSpPr>
        <p:spPr>
          <a:xfrm>
            <a:off x="7850148" y="2720697"/>
            <a:ext cx="243173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&amp; Lists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850148" y="3152894"/>
            <a:ext cx="5710357" cy="65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Include at least one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show some organised data (e.g., a list of your skills).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850148" y="3884771"/>
            <a:ext cx="57103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an ordered (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or unordered (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list.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047786" y="3203317"/>
            <a:ext cx="534948" cy="534948"/>
          </a:xfrm>
          <a:prstGeom prst="roundRect">
            <a:avLst>
              <a:gd name="adj" fmla="val 600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181493" y="3337024"/>
            <a:ext cx="267414" cy="26741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55940" y="4434840"/>
            <a:ext cx="6459260" cy="232386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7" name="Shape 14"/>
          <p:cNvSpPr/>
          <p:nvPr/>
        </p:nvSpPr>
        <p:spPr>
          <a:xfrm>
            <a:off x="855940" y="4434840"/>
            <a:ext cx="6459260" cy="30480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96" y="4648795"/>
            <a:ext cx="243173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Media Elements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69896" y="5080992"/>
            <a:ext cx="57103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to add either an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a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element.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69896" y="5491996"/>
            <a:ext cx="571035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Make sure it has controls so users can interact with it.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7315200" y="4434840"/>
            <a:ext cx="6459260" cy="232386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0" y="4434840"/>
            <a:ext cx="30480" cy="2323862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0" y="4434840"/>
            <a:ext cx="6459260" cy="30480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24" name="Text 21"/>
          <p:cNvSpPr/>
          <p:nvPr/>
        </p:nvSpPr>
        <p:spPr>
          <a:xfrm>
            <a:off x="7850148" y="4648795"/>
            <a:ext cx="263973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Details &amp; Cleanliness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850148" y="5080992"/>
            <a:ext cx="5710357" cy="65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attributes on your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tags for styling later.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7850148" y="5812869"/>
            <a:ext cx="57103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</a:t>
            </a: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comments --&gt;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explain your code.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7850148" y="6223873"/>
            <a:ext cx="571035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your HTML code neat and easy to read.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7047786" y="5329297"/>
            <a:ext cx="534948" cy="534948"/>
          </a:xfrm>
          <a:prstGeom prst="roundRect">
            <a:avLst>
              <a:gd name="adj" fmla="val 600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181493" y="5463004"/>
            <a:ext cx="267414" cy="26741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55940" y="6999446"/>
            <a:ext cx="12918519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Instructions: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Build a simple portfolio webpage. Include all the elements mentioned above. We will learn to make it look beautiful with CSS later!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1772</Words>
  <Application>Microsoft Office PowerPoint</Application>
  <PresentationFormat>Custom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Source Sans 3</vt:lpstr>
      <vt:lpstr>Montserrat Bold</vt:lpstr>
      <vt:lpstr>Consolas</vt:lpstr>
      <vt:lpstr>Calibri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RTX</cp:lastModifiedBy>
  <cp:revision>4</cp:revision>
  <dcterms:created xsi:type="dcterms:W3CDTF">2025-11-24T11:46:10Z</dcterms:created>
  <dcterms:modified xsi:type="dcterms:W3CDTF">2025-12-01T12:08:28Z</dcterms:modified>
</cp:coreProperties>
</file>