
<file path=[Content_Types].xml><?xml version="1.0" encoding="utf-8"?>
<Types xmlns="http://schemas.openxmlformats.org/package/2006/content-types">
  <Default Extension="png" ContentType="image/png"/>
  <Default Extension="svg" ContentType="image/svg+xml"/>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itchFamily="34" charset="0"/>
      <p:regular r:id="rId13"/>
      <p:bold r:id="rId14"/>
      <p:italic r:id="rId15"/>
      <p:boldItalic r:id="rId16"/>
    </p:embeddedFont>
    <p:embeddedFont>
      <p:font typeface="Consolas" pitchFamily="49" charset="0"/>
      <p:regular r:id="rId17"/>
      <p:bold r:id="rId18"/>
      <p:italic r:id="rId19"/>
      <p:boldItalic r:id="rId20"/>
    </p:embeddedFont>
    <p:embeddedFont>
      <p:font typeface="Source Sans 3"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5716" autoAdjust="0"/>
  </p:normalViewPr>
  <p:slideViewPr>
    <p:cSldViewPr snapToGrid="0" snapToObjects="1">
      <p:cViewPr>
        <p:scale>
          <a:sx n="77" d="100"/>
          <a:sy n="77" d="100"/>
        </p:scale>
        <p:origin x="-293" y="110"/>
      </p:cViewPr>
      <p:guideLst>
        <p:guide orient="horz" pos="2592"/>
        <p:guide pos="460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9.fntdata"/><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3.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565525" cy="7318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660900" y="0"/>
            <a:ext cx="3567113" cy="731838"/>
          </a:xfrm>
          <a:prstGeom prst="rect">
            <a:avLst/>
          </a:prstGeom>
        </p:spPr>
        <p:txBody>
          <a:bodyPr vert="horz" lIns="91440" tIns="45720" rIns="91440" bIns="45720" rtlCol="0"/>
          <a:lstStyle>
            <a:lvl1pPr algn="r">
              <a:defRPr sz="1200"/>
            </a:lvl1pPr>
          </a:lstStyle>
          <a:p>
            <a:fld id="{2341C3F2-6F16-40D6-8248-99E1CEB5BEEE}" type="datetimeFigureOut">
              <a:rPr lang="en-US" smtClean="0"/>
              <a:t>11/19/2025</a:t>
            </a:fld>
            <a:endParaRPr lang="en-US"/>
          </a:p>
        </p:txBody>
      </p:sp>
      <p:sp>
        <p:nvSpPr>
          <p:cNvPr id="4" name="Slide Image Placeholder 3"/>
          <p:cNvSpPr>
            <a:spLocks noGrp="1" noRot="1" noChangeAspect="1"/>
          </p:cNvSpPr>
          <p:nvPr>
            <p:ph type="sldImg" idx="2"/>
          </p:nvPr>
        </p:nvSpPr>
        <p:spPr>
          <a:xfrm>
            <a:off x="-762000" y="1096963"/>
            <a:ext cx="9753600" cy="54864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822325" y="6950075"/>
            <a:ext cx="6584950" cy="6583363"/>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13896975"/>
            <a:ext cx="3565525" cy="7302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660900" y="13896975"/>
            <a:ext cx="3567113" cy="730250"/>
          </a:xfrm>
          <a:prstGeom prst="rect">
            <a:avLst/>
          </a:prstGeom>
        </p:spPr>
        <p:txBody>
          <a:bodyPr vert="horz" lIns="91440" tIns="45720" rIns="91440" bIns="45720" rtlCol="0" anchor="b"/>
          <a:lstStyle>
            <a:lvl1pPr algn="r">
              <a:defRPr sz="1200"/>
            </a:lvl1pPr>
          </a:lstStyle>
          <a:p>
            <a:fld id="{6671367A-2757-4EB2-8B73-CC8F97FB2330}" type="slidenum">
              <a:rPr lang="en-US" smtClean="0"/>
              <a:t>‹#›</a:t>
            </a:fld>
            <a:endParaRPr lang="en-US"/>
          </a:p>
        </p:txBody>
      </p:sp>
    </p:spTree>
    <p:extLst>
      <p:ext uri="{BB962C8B-B14F-4D97-AF65-F5344CB8AC3E}">
        <p14:creationId xmlns:p14="http://schemas.microsoft.com/office/powerpoint/2010/main" val="4109175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8" Type="http://schemas.openxmlformats.org/officeDocument/2006/relationships/image" Target="../media/image-5-8.svg"/><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5-6.svg"/><Relationship Id="rId5" Type="http://schemas.openxmlformats.org/officeDocument/2006/relationships/image" Target="../media/image-5-4.svg"/><Relationship Id="rId4" Type="http://schemas.openxmlformats.org/officeDocument/2006/relationships/image" Target="../media/image-5-2.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588168" y="2598821"/>
            <a:ext cx="12178434" cy="1304048"/>
          </a:xfrm>
          <a:prstGeom prst="rect">
            <a:avLst/>
          </a:prstGeom>
          <a:noFill/>
          <a:ln/>
        </p:spPr>
        <p:txBody>
          <a:bodyPr wrap="square" lIns="0" tIns="0" rIns="0" bIns="0" rtlCol="0" anchor="t"/>
          <a:lstStyle/>
          <a:p>
            <a:pPr marL="0" indent="0" algn="l">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Frontend Development — HTML Session 1</a:t>
            </a:r>
            <a:endParaRPr lang="en-US" sz="3850" dirty="0"/>
          </a:p>
        </p:txBody>
      </p:sp>
      <p:sp>
        <p:nvSpPr>
          <p:cNvPr id="4" name="Text 1"/>
          <p:cNvSpPr/>
          <p:nvPr/>
        </p:nvSpPr>
        <p:spPr>
          <a:xfrm>
            <a:off x="1588167" y="3989189"/>
            <a:ext cx="8566486" cy="981551"/>
          </a:xfrm>
          <a:prstGeom prst="rect">
            <a:avLst/>
          </a:prstGeom>
          <a:noFill/>
          <a:ln/>
        </p:spPr>
        <p:txBody>
          <a:bodyPr wrap="square" lIns="0" tIns="0" rIns="0" bIns="0" rtlCol="0" anchor="t"/>
          <a:lstStyle/>
          <a:p>
            <a:pPr marL="0" indent="0" algn="l">
              <a:lnSpc>
                <a:spcPts val="3850"/>
              </a:lnSpc>
              <a:buNone/>
            </a:pPr>
            <a:r>
              <a:rPr lang="en-US" sz="3050" b="1" dirty="0">
                <a:solidFill>
                  <a:srgbClr val="FFFFFF"/>
                </a:solidFill>
                <a:latin typeface="Montserrat Bold" pitchFamily="34" charset="0"/>
                <a:ea typeface="Montserrat Bold" pitchFamily="34" charset="-122"/>
                <a:cs typeface="Montserrat Bold" pitchFamily="34" charset="-120"/>
              </a:rPr>
              <a:t>Introduction to </a:t>
            </a:r>
            <a:r>
              <a:rPr lang="en-US" sz="4800" b="1" dirty="0">
                <a:solidFill>
                  <a:srgbClr val="FFFFFF"/>
                </a:solidFill>
                <a:latin typeface="Montserrat Bold" pitchFamily="34" charset="0"/>
                <a:ea typeface="Montserrat Bold" pitchFamily="34" charset="-122"/>
                <a:cs typeface="Montserrat Bold" pitchFamily="34" charset="-120"/>
              </a:rPr>
              <a:t>HTML</a:t>
            </a:r>
            <a:r>
              <a:rPr lang="en-US" sz="3050" b="1" dirty="0">
                <a:solidFill>
                  <a:srgbClr val="FFFFFF"/>
                </a:solidFill>
                <a:latin typeface="Montserrat Bold" pitchFamily="34" charset="0"/>
                <a:ea typeface="Montserrat Bold" pitchFamily="34" charset="-122"/>
                <a:cs typeface="Montserrat Bold" pitchFamily="34" charset="-120"/>
              </a:rPr>
              <a:t>, Web Basics, Document Structure &amp; Core Tags</a:t>
            </a:r>
            <a:endParaRPr lang="en-US" sz="3050" dirty="0"/>
          </a:p>
        </p:txBody>
      </p:sp>
      <p:sp>
        <p:nvSpPr>
          <p:cNvPr id="5" name="Text 2"/>
          <p:cNvSpPr/>
          <p:nvPr/>
        </p:nvSpPr>
        <p:spPr>
          <a:xfrm>
            <a:off x="6350198" y="5597438"/>
            <a:ext cx="7416403" cy="302848"/>
          </a:xfrm>
          <a:prstGeom prst="rect">
            <a:avLst/>
          </a:prstGeom>
          <a:noFill/>
          <a:ln/>
        </p:spPr>
        <p:txBody>
          <a:bodyPr wrap="none" lIns="0" tIns="0" rIns="0" bIns="0" rtlCol="0" anchor="t"/>
          <a:lstStyle/>
          <a:p>
            <a:pPr marL="0" indent="0" algn="l">
              <a:lnSpc>
                <a:spcPts val="2000"/>
              </a:lnSpc>
              <a:buNone/>
            </a:pPr>
            <a:r>
              <a:rPr lang="en-US" sz="1350" dirty="0">
                <a:solidFill>
                  <a:srgbClr val="E2E6E9"/>
                </a:solidFill>
                <a:latin typeface="Source Sans 3" pitchFamily="34" charset="0"/>
                <a:ea typeface="Source Sans 3" pitchFamily="34" charset="-122"/>
                <a:cs typeface="Source Sans 3" pitchFamily="34" charset="-120"/>
              </a:rPr>
              <a:t>Instructor: Mohamed Saeed</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615315" y="423029"/>
            <a:ext cx="7104698" cy="437078"/>
          </a:xfrm>
          <a:prstGeom prst="rect">
            <a:avLst/>
          </a:prstGeom>
          <a:noFill/>
          <a:ln/>
        </p:spPr>
        <p:txBody>
          <a:bodyPr wrap="none" lIns="0" tIns="0" rIns="0" bIns="0" rtlCol="0" anchor="t"/>
          <a:lstStyle/>
          <a:p>
            <a:pPr marL="0" indent="0" algn="l">
              <a:lnSpc>
                <a:spcPts val="3400"/>
              </a:lnSpc>
              <a:buNone/>
            </a:pPr>
            <a:r>
              <a:rPr lang="en-US" sz="2750" b="1" dirty="0">
                <a:solidFill>
                  <a:srgbClr val="FFFFFF"/>
                </a:solidFill>
                <a:latin typeface="Montserrat Bold" pitchFamily="34" charset="0"/>
                <a:ea typeface="Montserrat Bold" pitchFamily="34" charset="-122"/>
                <a:cs typeface="Montserrat Bold" pitchFamily="34" charset="-120"/>
              </a:rPr>
              <a:t>Session Goals: Your Learning Roadmap</a:t>
            </a:r>
            <a:endParaRPr lang="en-US" sz="2750" dirty="0"/>
          </a:p>
        </p:txBody>
      </p:sp>
      <p:sp>
        <p:nvSpPr>
          <p:cNvPr id="3" name="Text 1"/>
          <p:cNvSpPr/>
          <p:nvPr/>
        </p:nvSpPr>
        <p:spPr>
          <a:xfrm>
            <a:off x="615315" y="1167765"/>
            <a:ext cx="13399770" cy="461486"/>
          </a:xfrm>
          <a:prstGeom prst="rect">
            <a:avLst/>
          </a:prstGeom>
          <a:noFill/>
          <a:ln/>
        </p:spPr>
        <p:txBody>
          <a:bodyPr wrap="squar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Welcome to your first step into frontend development! This session is designed to equip you with the foundational knowledge of HTML, the backbone of all web pages. By the end, you'll be able to build basic web structures and understand how the web works at a fundamental level.</a:t>
            </a:r>
            <a:endParaRPr lang="en-US" sz="1200" dirty="0"/>
          </a:p>
        </p:txBody>
      </p:sp>
      <p:sp>
        <p:nvSpPr>
          <p:cNvPr id="6" name="Text 4"/>
          <p:cNvSpPr/>
          <p:nvPr/>
        </p:nvSpPr>
        <p:spPr>
          <a:xfrm>
            <a:off x="1115258" y="1855113"/>
            <a:ext cx="4614743" cy="218480"/>
          </a:xfrm>
          <a:prstGeom prst="rect">
            <a:avLst/>
          </a:prstGeom>
          <a:noFill/>
          <a:ln/>
        </p:spPr>
        <p:txBody>
          <a:bodyPr wrap="none" lIns="0" tIns="0" rIns="0" bIns="0" rtlCol="0" anchor="t"/>
          <a:lstStyle/>
          <a:p>
            <a:pPr marL="0" indent="0" algn="l">
              <a:lnSpc>
                <a:spcPts val="1700"/>
              </a:lnSpc>
              <a:buNone/>
            </a:pPr>
            <a:endParaRPr lang="en-US" sz="1350" dirty="0"/>
          </a:p>
        </p:txBody>
      </p:sp>
      <p:sp>
        <p:nvSpPr>
          <p:cNvPr id="8" name="Shape 6"/>
          <p:cNvSpPr/>
          <p:nvPr/>
        </p:nvSpPr>
        <p:spPr>
          <a:xfrm>
            <a:off x="615315" y="2704267"/>
            <a:ext cx="346115" cy="346115"/>
          </a:xfrm>
          <a:prstGeom prst="roundRect">
            <a:avLst>
              <a:gd name="adj" fmla="val 6667"/>
            </a:avLst>
          </a:prstGeom>
          <a:solidFill>
            <a:srgbClr val="303132"/>
          </a:solidFill>
          <a:ln/>
        </p:spPr>
      </p:sp>
      <p:sp>
        <p:nvSpPr>
          <p:cNvPr id="9" name="Text 7"/>
          <p:cNvSpPr/>
          <p:nvPr/>
        </p:nvSpPr>
        <p:spPr>
          <a:xfrm>
            <a:off x="683419" y="2746177"/>
            <a:ext cx="209788" cy="262176"/>
          </a:xfrm>
          <a:prstGeom prst="rect">
            <a:avLst/>
          </a:prstGeom>
          <a:noFill/>
          <a:ln/>
        </p:spPr>
        <p:txBody>
          <a:bodyPr wrap="none" lIns="0" tIns="0" rIns="0" bIns="0" rtlCol="0" anchor="t"/>
          <a:lstStyle/>
          <a:p>
            <a:pPr marL="0" indent="0" algn="ctr">
              <a:lnSpc>
                <a:spcPts val="1650"/>
              </a:lnSpc>
              <a:buNone/>
            </a:pPr>
            <a:r>
              <a:rPr lang="en-US" sz="1650" dirty="0" smtClean="0"/>
              <a:t>1</a:t>
            </a:r>
            <a:endParaRPr lang="en-US" sz="1650" dirty="0"/>
          </a:p>
        </p:txBody>
      </p:sp>
      <p:sp>
        <p:nvSpPr>
          <p:cNvPr id="10" name="Text 8"/>
          <p:cNvSpPr/>
          <p:nvPr/>
        </p:nvSpPr>
        <p:spPr>
          <a:xfrm>
            <a:off x="1115258" y="2757130"/>
            <a:ext cx="3058478" cy="218480"/>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Learn core HTML structure &amp; tags</a:t>
            </a:r>
            <a:endParaRPr lang="en-US" sz="1350" dirty="0"/>
          </a:p>
        </p:txBody>
      </p:sp>
      <p:sp>
        <p:nvSpPr>
          <p:cNvPr id="11" name="Text 9"/>
          <p:cNvSpPr/>
          <p:nvPr/>
        </p:nvSpPr>
        <p:spPr>
          <a:xfrm>
            <a:off x="1115258" y="3067883"/>
            <a:ext cx="12899827" cy="230743"/>
          </a:xfrm>
          <a:prstGeom prst="rect">
            <a:avLst/>
          </a:prstGeom>
          <a:noFill/>
          <a:ln/>
        </p:spPr>
        <p:txBody>
          <a:bodyPr wrap="non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Familiarise yourself with the essential elements that form any HTML document.</a:t>
            </a:r>
            <a:endParaRPr lang="en-US" sz="1200" dirty="0"/>
          </a:p>
        </p:txBody>
      </p:sp>
      <p:sp>
        <p:nvSpPr>
          <p:cNvPr id="12" name="Shape 10"/>
          <p:cNvSpPr/>
          <p:nvPr/>
        </p:nvSpPr>
        <p:spPr>
          <a:xfrm>
            <a:off x="615315" y="3606284"/>
            <a:ext cx="346115" cy="346115"/>
          </a:xfrm>
          <a:prstGeom prst="roundRect">
            <a:avLst>
              <a:gd name="adj" fmla="val 6667"/>
            </a:avLst>
          </a:prstGeom>
          <a:solidFill>
            <a:srgbClr val="303132"/>
          </a:solidFill>
          <a:ln/>
        </p:spPr>
      </p:sp>
      <p:sp>
        <p:nvSpPr>
          <p:cNvPr id="13" name="Text 11"/>
          <p:cNvSpPr/>
          <p:nvPr/>
        </p:nvSpPr>
        <p:spPr>
          <a:xfrm>
            <a:off x="683419" y="3648194"/>
            <a:ext cx="209788" cy="262176"/>
          </a:xfrm>
          <a:prstGeom prst="rect">
            <a:avLst/>
          </a:prstGeom>
          <a:noFill/>
          <a:ln/>
        </p:spPr>
        <p:txBody>
          <a:bodyPr wrap="none" lIns="0" tIns="0" rIns="0" bIns="0" rtlCol="0" anchor="t"/>
          <a:lstStyle/>
          <a:p>
            <a:pPr marL="0" indent="0" algn="ctr">
              <a:lnSpc>
                <a:spcPts val="1650"/>
              </a:lnSpc>
              <a:buNone/>
            </a:pPr>
            <a:r>
              <a:rPr lang="en-US" sz="1650" dirty="0" smtClean="0"/>
              <a:t>2</a:t>
            </a:r>
            <a:endParaRPr lang="en-US" sz="1650" dirty="0"/>
          </a:p>
        </p:txBody>
      </p:sp>
      <p:sp>
        <p:nvSpPr>
          <p:cNvPr id="14" name="Text 12"/>
          <p:cNvSpPr/>
          <p:nvPr/>
        </p:nvSpPr>
        <p:spPr>
          <a:xfrm>
            <a:off x="1115258" y="3659148"/>
            <a:ext cx="3504128" cy="218480"/>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Differentiate Block vs. Inline Elements</a:t>
            </a:r>
            <a:endParaRPr lang="en-US" sz="1350" dirty="0"/>
          </a:p>
        </p:txBody>
      </p:sp>
      <p:sp>
        <p:nvSpPr>
          <p:cNvPr id="15" name="Text 13"/>
          <p:cNvSpPr/>
          <p:nvPr/>
        </p:nvSpPr>
        <p:spPr>
          <a:xfrm>
            <a:off x="1115258" y="3969901"/>
            <a:ext cx="12899827" cy="230743"/>
          </a:xfrm>
          <a:prstGeom prst="rect">
            <a:avLst/>
          </a:prstGeom>
          <a:noFill/>
          <a:ln/>
        </p:spPr>
        <p:txBody>
          <a:bodyPr wrap="non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Understand how different HTML elements behave in terms of layout and flow.</a:t>
            </a:r>
            <a:endParaRPr lang="en-US" sz="1200" dirty="0"/>
          </a:p>
        </p:txBody>
      </p:sp>
      <p:sp>
        <p:nvSpPr>
          <p:cNvPr id="16" name="Shape 14"/>
          <p:cNvSpPr/>
          <p:nvPr/>
        </p:nvSpPr>
        <p:spPr>
          <a:xfrm>
            <a:off x="615315" y="4508302"/>
            <a:ext cx="346115" cy="346115"/>
          </a:xfrm>
          <a:prstGeom prst="roundRect">
            <a:avLst>
              <a:gd name="adj" fmla="val 6667"/>
            </a:avLst>
          </a:prstGeom>
          <a:solidFill>
            <a:srgbClr val="303132"/>
          </a:solidFill>
          <a:ln/>
        </p:spPr>
      </p:sp>
      <p:sp>
        <p:nvSpPr>
          <p:cNvPr id="17" name="Text 15"/>
          <p:cNvSpPr/>
          <p:nvPr/>
        </p:nvSpPr>
        <p:spPr>
          <a:xfrm>
            <a:off x="683419" y="4550212"/>
            <a:ext cx="209788" cy="262176"/>
          </a:xfrm>
          <a:prstGeom prst="rect">
            <a:avLst/>
          </a:prstGeom>
          <a:noFill/>
          <a:ln/>
        </p:spPr>
        <p:txBody>
          <a:bodyPr wrap="none" lIns="0" tIns="0" rIns="0" bIns="0" rtlCol="0" anchor="t"/>
          <a:lstStyle/>
          <a:p>
            <a:pPr marL="0" indent="0" algn="ctr">
              <a:lnSpc>
                <a:spcPts val="1650"/>
              </a:lnSpc>
              <a:buNone/>
            </a:pPr>
            <a:r>
              <a:rPr lang="en-US" sz="1650" dirty="0" smtClean="0"/>
              <a:t>3</a:t>
            </a:r>
            <a:endParaRPr lang="en-US" sz="1650" dirty="0"/>
          </a:p>
        </p:txBody>
      </p:sp>
      <p:sp>
        <p:nvSpPr>
          <p:cNvPr id="18" name="Text 16"/>
          <p:cNvSpPr/>
          <p:nvPr/>
        </p:nvSpPr>
        <p:spPr>
          <a:xfrm>
            <a:off x="1115258" y="4561165"/>
            <a:ext cx="3889891" cy="218480"/>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Master Headings, Text, Lists, Links, Images</a:t>
            </a:r>
            <a:endParaRPr lang="en-US" sz="1350" dirty="0"/>
          </a:p>
        </p:txBody>
      </p:sp>
      <p:sp>
        <p:nvSpPr>
          <p:cNvPr id="19" name="Text 17"/>
          <p:cNvSpPr/>
          <p:nvPr/>
        </p:nvSpPr>
        <p:spPr>
          <a:xfrm>
            <a:off x="1115258" y="4871918"/>
            <a:ext cx="12899827" cy="230743"/>
          </a:xfrm>
          <a:prstGeom prst="rect">
            <a:avLst/>
          </a:prstGeom>
          <a:noFill/>
          <a:ln/>
        </p:spPr>
        <p:txBody>
          <a:bodyPr wrap="non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Learn to use fundamental tags to structure and display content effectively.</a:t>
            </a:r>
            <a:endParaRPr lang="en-US" sz="1200" dirty="0"/>
          </a:p>
        </p:txBody>
      </p:sp>
      <p:sp>
        <p:nvSpPr>
          <p:cNvPr id="20" name="Shape 18"/>
          <p:cNvSpPr/>
          <p:nvPr/>
        </p:nvSpPr>
        <p:spPr>
          <a:xfrm>
            <a:off x="605690" y="5410319"/>
            <a:ext cx="346115" cy="346115"/>
          </a:xfrm>
          <a:prstGeom prst="roundRect">
            <a:avLst>
              <a:gd name="adj" fmla="val 6667"/>
            </a:avLst>
          </a:prstGeom>
          <a:solidFill>
            <a:srgbClr val="303132"/>
          </a:solidFill>
          <a:ln/>
        </p:spPr>
      </p:sp>
      <p:sp>
        <p:nvSpPr>
          <p:cNvPr id="21" name="Text 19"/>
          <p:cNvSpPr/>
          <p:nvPr/>
        </p:nvSpPr>
        <p:spPr>
          <a:xfrm>
            <a:off x="683419" y="5452229"/>
            <a:ext cx="209788" cy="262176"/>
          </a:xfrm>
          <a:prstGeom prst="rect">
            <a:avLst/>
          </a:prstGeom>
          <a:noFill/>
          <a:ln/>
        </p:spPr>
        <p:txBody>
          <a:bodyPr wrap="none" lIns="0" tIns="0" rIns="0" bIns="0" rtlCol="0" anchor="t"/>
          <a:lstStyle/>
          <a:p>
            <a:pPr marL="0" indent="0" algn="ctr">
              <a:lnSpc>
                <a:spcPts val="1650"/>
              </a:lnSpc>
              <a:buNone/>
            </a:pPr>
            <a:r>
              <a:rPr lang="en-US" sz="1650" dirty="0" smtClean="0"/>
              <a:t>4</a:t>
            </a:r>
            <a:endParaRPr lang="en-US" sz="1650" dirty="0"/>
          </a:p>
        </p:txBody>
      </p:sp>
      <p:sp>
        <p:nvSpPr>
          <p:cNvPr id="22" name="Text 20"/>
          <p:cNvSpPr/>
          <p:nvPr/>
        </p:nvSpPr>
        <p:spPr>
          <a:xfrm>
            <a:off x="1115258" y="5463183"/>
            <a:ext cx="2115145" cy="218480"/>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Grasp DOM Tree Basics</a:t>
            </a:r>
            <a:endParaRPr lang="en-US" sz="1350" dirty="0"/>
          </a:p>
        </p:txBody>
      </p:sp>
      <p:sp>
        <p:nvSpPr>
          <p:cNvPr id="23" name="Text 21"/>
          <p:cNvSpPr/>
          <p:nvPr/>
        </p:nvSpPr>
        <p:spPr>
          <a:xfrm>
            <a:off x="1115258" y="5773936"/>
            <a:ext cx="12899827" cy="230743"/>
          </a:xfrm>
          <a:prstGeom prst="rect">
            <a:avLst/>
          </a:prstGeom>
          <a:noFill/>
          <a:ln/>
        </p:spPr>
        <p:txBody>
          <a:bodyPr wrap="non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Discover how browsers interpret HTML into an organised, accessible document model.</a:t>
            </a:r>
            <a:endParaRPr lang="en-US" sz="1200" dirty="0"/>
          </a:p>
        </p:txBody>
      </p:sp>
      <p:sp>
        <p:nvSpPr>
          <p:cNvPr id="24" name="Shape 22"/>
          <p:cNvSpPr/>
          <p:nvPr/>
        </p:nvSpPr>
        <p:spPr>
          <a:xfrm>
            <a:off x="615315" y="6312337"/>
            <a:ext cx="346115" cy="346115"/>
          </a:xfrm>
          <a:prstGeom prst="roundRect">
            <a:avLst>
              <a:gd name="adj" fmla="val 6667"/>
            </a:avLst>
          </a:prstGeom>
          <a:solidFill>
            <a:srgbClr val="303132"/>
          </a:solidFill>
          <a:ln/>
        </p:spPr>
      </p:sp>
      <p:sp>
        <p:nvSpPr>
          <p:cNvPr id="25" name="Text 23"/>
          <p:cNvSpPr/>
          <p:nvPr/>
        </p:nvSpPr>
        <p:spPr>
          <a:xfrm>
            <a:off x="683419" y="6354247"/>
            <a:ext cx="209788" cy="262176"/>
          </a:xfrm>
          <a:prstGeom prst="rect">
            <a:avLst/>
          </a:prstGeom>
          <a:noFill/>
          <a:ln/>
        </p:spPr>
        <p:txBody>
          <a:bodyPr wrap="none" lIns="0" tIns="0" rIns="0" bIns="0" rtlCol="0" anchor="t"/>
          <a:lstStyle/>
          <a:p>
            <a:pPr marL="0" indent="0" algn="ctr">
              <a:lnSpc>
                <a:spcPts val="1650"/>
              </a:lnSpc>
              <a:buNone/>
            </a:pPr>
            <a:r>
              <a:rPr lang="en-US" sz="1650" dirty="0" smtClean="0"/>
              <a:t>5</a:t>
            </a:r>
            <a:endParaRPr lang="en-US" sz="1650" dirty="0"/>
          </a:p>
        </p:txBody>
      </p:sp>
      <p:sp>
        <p:nvSpPr>
          <p:cNvPr id="26" name="Text 24"/>
          <p:cNvSpPr/>
          <p:nvPr/>
        </p:nvSpPr>
        <p:spPr>
          <a:xfrm>
            <a:off x="1115258" y="6365200"/>
            <a:ext cx="2066568" cy="218480"/>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Practice Writing HTML</a:t>
            </a:r>
            <a:endParaRPr lang="en-US" sz="1350" dirty="0"/>
          </a:p>
        </p:txBody>
      </p:sp>
      <p:sp>
        <p:nvSpPr>
          <p:cNvPr id="27" name="Text 25"/>
          <p:cNvSpPr/>
          <p:nvPr/>
        </p:nvSpPr>
        <p:spPr>
          <a:xfrm>
            <a:off x="1115258" y="6675953"/>
            <a:ext cx="12899827" cy="230743"/>
          </a:xfrm>
          <a:prstGeom prst="rect">
            <a:avLst/>
          </a:prstGeom>
          <a:noFill/>
          <a:ln/>
        </p:spPr>
        <p:txBody>
          <a:bodyPr wrap="non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Apply your new knowledge through hands-on coding exercises.</a:t>
            </a:r>
            <a:endParaRPr lang="en-US" sz="1200" dirty="0"/>
          </a:p>
        </p:txBody>
      </p:sp>
      <p:sp>
        <p:nvSpPr>
          <p:cNvPr id="28" name="Shape 26"/>
          <p:cNvSpPr/>
          <p:nvPr/>
        </p:nvSpPr>
        <p:spPr>
          <a:xfrm>
            <a:off x="615315" y="7214354"/>
            <a:ext cx="346115" cy="346115"/>
          </a:xfrm>
          <a:prstGeom prst="roundRect">
            <a:avLst>
              <a:gd name="adj" fmla="val 6667"/>
            </a:avLst>
          </a:prstGeom>
          <a:solidFill>
            <a:srgbClr val="303132"/>
          </a:solidFill>
          <a:ln/>
        </p:spPr>
      </p:sp>
      <p:sp>
        <p:nvSpPr>
          <p:cNvPr id="29" name="Text 27"/>
          <p:cNvSpPr/>
          <p:nvPr/>
        </p:nvSpPr>
        <p:spPr>
          <a:xfrm>
            <a:off x="683419" y="7256264"/>
            <a:ext cx="209788" cy="262176"/>
          </a:xfrm>
          <a:prstGeom prst="rect">
            <a:avLst/>
          </a:prstGeom>
          <a:noFill/>
          <a:ln/>
        </p:spPr>
        <p:txBody>
          <a:bodyPr wrap="none" lIns="0" tIns="0" rIns="0" bIns="0" rtlCol="0" anchor="t"/>
          <a:lstStyle/>
          <a:p>
            <a:pPr marL="0" indent="0" algn="ctr">
              <a:lnSpc>
                <a:spcPts val="1650"/>
              </a:lnSpc>
              <a:buNone/>
            </a:pPr>
            <a:r>
              <a:rPr lang="en-US" sz="1650" dirty="0" smtClean="0"/>
              <a:t>6</a:t>
            </a:r>
            <a:endParaRPr lang="en-US" sz="1650" dirty="0"/>
          </a:p>
        </p:txBody>
      </p:sp>
      <p:sp>
        <p:nvSpPr>
          <p:cNvPr id="30" name="Text 28"/>
          <p:cNvSpPr/>
          <p:nvPr/>
        </p:nvSpPr>
        <p:spPr>
          <a:xfrm>
            <a:off x="1115258" y="7267218"/>
            <a:ext cx="3326844" cy="218480"/>
          </a:xfrm>
          <a:prstGeom prst="rect">
            <a:avLst/>
          </a:prstGeom>
          <a:noFill/>
          <a:ln/>
        </p:spPr>
        <p:txBody>
          <a:bodyPr wrap="none" lIns="0" tIns="0" rIns="0" bIns="0" rtlCol="0" anchor="t"/>
          <a:lstStyle/>
          <a:p>
            <a:pPr marL="0" indent="0" algn="l">
              <a:lnSpc>
                <a:spcPts val="1700"/>
              </a:lnSpc>
              <a:buNone/>
            </a:pPr>
            <a:r>
              <a:rPr lang="en-US" sz="1350" b="1" dirty="0">
                <a:solidFill>
                  <a:srgbClr val="E2E6E9"/>
                </a:solidFill>
                <a:latin typeface="Montserrat Bold" pitchFamily="34" charset="0"/>
                <a:ea typeface="Montserrat Bold" pitchFamily="34" charset="-122"/>
                <a:cs typeface="Montserrat Bold" pitchFamily="34" charset="-120"/>
              </a:rPr>
              <a:t>Prepare for Semantic HTML &amp; Tables</a:t>
            </a:r>
            <a:endParaRPr lang="en-US" sz="1350" dirty="0"/>
          </a:p>
        </p:txBody>
      </p:sp>
      <p:sp>
        <p:nvSpPr>
          <p:cNvPr id="31" name="Text 29"/>
          <p:cNvSpPr/>
          <p:nvPr/>
        </p:nvSpPr>
        <p:spPr>
          <a:xfrm>
            <a:off x="1115258" y="7577971"/>
            <a:ext cx="12899827" cy="230743"/>
          </a:xfrm>
          <a:prstGeom prst="rect">
            <a:avLst/>
          </a:prstGeom>
          <a:noFill/>
          <a:ln/>
        </p:spPr>
        <p:txBody>
          <a:bodyPr wrap="none" lIns="0" tIns="0" rIns="0" bIns="0" rtlCol="0" anchor="t"/>
          <a:lstStyle/>
          <a:p>
            <a:pPr marL="0" indent="0" algn="l">
              <a:lnSpc>
                <a:spcPts val="1800"/>
              </a:lnSpc>
              <a:buNone/>
            </a:pPr>
            <a:r>
              <a:rPr lang="en-US" sz="1200" dirty="0">
                <a:solidFill>
                  <a:srgbClr val="E2E6E9"/>
                </a:solidFill>
                <a:latin typeface="Source Sans 3" pitchFamily="34" charset="0"/>
                <a:ea typeface="Source Sans 3" pitchFamily="34" charset="-122"/>
                <a:cs typeface="Source Sans 3" pitchFamily="34" charset="-120"/>
              </a:rPr>
              <a:t>Set the stage for advanced HTML concepts in our next session.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75203" y="464225"/>
            <a:ext cx="4552950" cy="479465"/>
          </a:xfrm>
          <a:prstGeom prst="rect">
            <a:avLst/>
          </a:prstGeom>
          <a:noFill/>
          <a:ln/>
        </p:spPr>
        <p:txBody>
          <a:bodyPr wrap="none" lIns="0" tIns="0" rIns="0" bIns="0" rtlCol="0" anchor="t"/>
          <a:lstStyle/>
          <a:p>
            <a:pPr marL="0" indent="0" algn="l">
              <a:lnSpc>
                <a:spcPts val="3750"/>
              </a:lnSpc>
              <a:buNone/>
            </a:pPr>
            <a:r>
              <a:rPr lang="en-US" sz="3000" b="1" dirty="0">
                <a:solidFill>
                  <a:srgbClr val="FFFFFF"/>
                </a:solidFill>
                <a:latin typeface="Montserrat Bold" pitchFamily="34" charset="0"/>
                <a:ea typeface="Montserrat Bold" pitchFamily="34" charset="-122"/>
                <a:cs typeface="Montserrat Bold" pitchFamily="34" charset="-120"/>
              </a:rPr>
              <a:t>What Exactly is HTML?</a:t>
            </a:r>
            <a:endParaRPr lang="en-US" sz="3000" dirty="0"/>
          </a:p>
        </p:txBody>
      </p:sp>
      <p:sp>
        <p:nvSpPr>
          <p:cNvPr id="3" name="Text 1"/>
          <p:cNvSpPr/>
          <p:nvPr/>
        </p:nvSpPr>
        <p:spPr>
          <a:xfrm>
            <a:off x="675203" y="1281232"/>
            <a:ext cx="13279993" cy="506492"/>
          </a:xfrm>
          <a:prstGeom prst="rect">
            <a:avLst/>
          </a:prstGeom>
          <a:noFill/>
          <a:ln/>
        </p:spPr>
        <p:txBody>
          <a:bodyPr wrap="square" lIns="0" tIns="0" rIns="0" bIns="0" rtlCol="0" anchor="t"/>
          <a:lstStyle/>
          <a:p>
            <a:pPr marL="0" indent="0" algn="l">
              <a:lnSpc>
                <a:spcPts val="1950"/>
              </a:lnSpc>
              <a:buNone/>
            </a:pPr>
            <a:r>
              <a:rPr lang="en-US" sz="1300" dirty="0">
                <a:solidFill>
                  <a:srgbClr val="E2E6E9"/>
                </a:solidFill>
                <a:latin typeface="Source Sans 3" pitchFamily="34" charset="0"/>
                <a:ea typeface="Source Sans 3" pitchFamily="34" charset="-122"/>
                <a:cs typeface="Source Sans 3" pitchFamily="34" charset="-120"/>
              </a:rPr>
              <a:t>HTML, or HyperText Markup Language, is the standard language for creating web pages. It provides the structure and content, acting as the skeleton upon which all other web technologies build. Without HTML, there would be no web pages as we know them.</a:t>
            </a:r>
            <a:endParaRPr lang="en-US" sz="1300" dirty="0"/>
          </a:p>
        </p:txBody>
      </p:sp>
      <p:sp>
        <p:nvSpPr>
          <p:cNvPr id="4" name="Text 2"/>
          <p:cNvSpPr/>
          <p:nvPr/>
        </p:nvSpPr>
        <p:spPr>
          <a:xfrm>
            <a:off x="675203" y="2146340"/>
            <a:ext cx="2752963" cy="239673"/>
          </a:xfrm>
          <a:prstGeom prst="rect">
            <a:avLst/>
          </a:prstGeom>
          <a:noFill/>
          <a:ln/>
        </p:spPr>
        <p:txBody>
          <a:bodyPr wrap="none" lIns="0" tIns="0" rIns="0" bIns="0" rtlCol="0" anchor="t"/>
          <a:lstStyle/>
          <a:p>
            <a:pPr marL="0" indent="0" algn="l">
              <a:lnSpc>
                <a:spcPts val="1850"/>
              </a:lnSpc>
              <a:buNone/>
            </a:pPr>
            <a:r>
              <a:rPr lang="en-US" sz="1500" b="1" dirty="0">
                <a:solidFill>
                  <a:srgbClr val="FFFFFF"/>
                </a:solidFill>
                <a:latin typeface="Montserrat Bold" pitchFamily="34" charset="0"/>
                <a:ea typeface="Montserrat Bold" pitchFamily="34" charset="-122"/>
                <a:cs typeface="Montserrat Bold" pitchFamily="34" charset="-120"/>
              </a:rPr>
              <a:t>The Foundation of the Web</a:t>
            </a:r>
            <a:endParaRPr lang="en-US" sz="1500" dirty="0"/>
          </a:p>
        </p:txBody>
      </p:sp>
      <p:sp>
        <p:nvSpPr>
          <p:cNvPr id="5" name="Text 3"/>
          <p:cNvSpPr/>
          <p:nvPr/>
        </p:nvSpPr>
        <p:spPr>
          <a:xfrm>
            <a:off x="675203" y="2554724"/>
            <a:ext cx="6434138" cy="253246"/>
          </a:xfrm>
          <a:prstGeom prst="rect">
            <a:avLst/>
          </a:prstGeom>
          <a:noFill/>
          <a:ln/>
        </p:spPr>
        <p:txBody>
          <a:bodyPr wrap="none" lIns="0" tIns="0" rIns="0" bIns="0" rtlCol="0" anchor="t"/>
          <a:lstStyle/>
          <a:p>
            <a:pPr marL="342900" indent="-342900" algn="l">
              <a:lnSpc>
                <a:spcPts val="1950"/>
              </a:lnSpc>
              <a:buSzPct val="100000"/>
              <a:buChar char="•"/>
            </a:pPr>
            <a:r>
              <a:rPr lang="en-US" sz="1300" b="1" dirty="0">
                <a:solidFill>
                  <a:srgbClr val="E2E6E9"/>
                </a:solidFill>
                <a:latin typeface="Source Sans 3" pitchFamily="34" charset="0"/>
                <a:ea typeface="Source Sans 3" pitchFamily="34" charset="-122"/>
                <a:cs typeface="Source Sans 3" pitchFamily="34" charset="-120"/>
              </a:rPr>
              <a:t>H</a:t>
            </a:r>
            <a:r>
              <a:rPr lang="en-US" sz="1300" dirty="0">
                <a:solidFill>
                  <a:srgbClr val="E2E6E9"/>
                </a:solidFill>
                <a:latin typeface="Source Sans 3" pitchFamily="34" charset="0"/>
                <a:ea typeface="Source Sans 3" pitchFamily="34" charset="-122"/>
                <a:cs typeface="Source Sans 3" pitchFamily="34" charset="-120"/>
              </a:rPr>
              <a:t>yper</a:t>
            </a:r>
            <a:r>
              <a:rPr lang="en-US" sz="1300" b="1" dirty="0">
                <a:solidFill>
                  <a:srgbClr val="E2E6E9"/>
                </a:solidFill>
                <a:latin typeface="Source Sans 3" pitchFamily="34" charset="0"/>
                <a:ea typeface="Source Sans 3" pitchFamily="34" charset="-122"/>
                <a:cs typeface="Source Sans 3" pitchFamily="34" charset="-120"/>
              </a:rPr>
              <a:t>T</a:t>
            </a:r>
            <a:endParaRPr lang="en-US" sz="1300" dirty="0"/>
          </a:p>
        </p:txBody>
      </p:sp>
      <p:sp>
        <p:nvSpPr>
          <p:cNvPr id="6" name="Text 4"/>
          <p:cNvSpPr/>
          <p:nvPr/>
        </p:nvSpPr>
        <p:spPr>
          <a:xfrm>
            <a:off x="675203" y="2867025"/>
            <a:ext cx="6434138" cy="253246"/>
          </a:xfrm>
          <a:prstGeom prst="rect">
            <a:avLst/>
          </a:prstGeom>
          <a:noFill/>
          <a:ln/>
        </p:spPr>
        <p:txBody>
          <a:bodyPr wrap="none" lIns="0" tIns="0" rIns="0" bIns="0" rtlCol="0" anchor="t"/>
          <a:lstStyle/>
          <a:p>
            <a:pPr marL="342900" indent="-342900" algn="l">
              <a:lnSpc>
                <a:spcPts val="1950"/>
              </a:lnSpc>
              <a:buSzPct val="100000"/>
              <a:buChar char="•"/>
            </a:pPr>
            <a:r>
              <a:rPr lang="en-US" sz="1300" b="1" dirty="0">
                <a:solidFill>
                  <a:srgbClr val="E2E6E9"/>
                </a:solidFill>
                <a:latin typeface="Source Sans 3" pitchFamily="34" charset="0"/>
                <a:ea typeface="Source Sans 3" pitchFamily="34" charset="-122"/>
                <a:cs typeface="Source Sans 3" pitchFamily="34" charset="-120"/>
              </a:rPr>
              <a:t>Markup: Tags that define the structure and content of a document.</a:t>
            </a:r>
            <a:endParaRPr lang="en-US" sz="1300" dirty="0"/>
          </a:p>
        </p:txBody>
      </p:sp>
      <p:sp>
        <p:nvSpPr>
          <p:cNvPr id="7" name="Text 5"/>
          <p:cNvSpPr/>
          <p:nvPr/>
        </p:nvSpPr>
        <p:spPr>
          <a:xfrm>
            <a:off x="675203" y="3179326"/>
            <a:ext cx="6434138" cy="253246"/>
          </a:xfrm>
          <a:prstGeom prst="rect">
            <a:avLst/>
          </a:prstGeom>
          <a:noFill/>
          <a:ln/>
        </p:spPr>
        <p:txBody>
          <a:bodyPr wrap="none" lIns="0" tIns="0" rIns="0" bIns="0" rtlCol="0" anchor="t"/>
          <a:lstStyle/>
          <a:p>
            <a:pPr marL="342900" indent="-342900" algn="l">
              <a:lnSpc>
                <a:spcPts val="1950"/>
              </a:lnSpc>
              <a:buSzPct val="100000"/>
              <a:buChar char="•"/>
            </a:pPr>
            <a:r>
              <a:rPr lang="en-US" sz="1300" b="1" dirty="0">
                <a:solidFill>
                  <a:srgbClr val="E2E6E9"/>
                </a:solidFill>
                <a:latin typeface="Source Sans 3" pitchFamily="34" charset="0"/>
                <a:ea typeface="Source Sans 3" pitchFamily="34" charset="-122"/>
                <a:cs typeface="Source Sans 3" pitchFamily="34" charset="-120"/>
              </a:rPr>
              <a:t>L</a:t>
            </a:r>
            <a:r>
              <a:rPr lang="en-US" sz="1300" dirty="0">
                <a:solidFill>
                  <a:srgbClr val="E2E6E9"/>
                </a:solidFill>
                <a:latin typeface="Source Sans 3" pitchFamily="34" charset="0"/>
                <a:ea typeface="Source Sans 3" pitchFamily="34" charset="-122"/>
                <a:cs typeface="Source Sans 3" pitchFamily="34" charset="-120"/>
              </a:rPr>
              <a:t>anguage: A system of communication with specific rules and syntax.</a:t>
            </a:r>
            <a:endParaRPr lang="en-US" sz="1300" dirty="0"/>
          </a:p>
        </p:txBody>
      </p:sp>
      <p:sp>
        <p:nvSpPr>
          <p:cNvPr id="8" name="Text 6"/>
          <p:cNvSpPr/>
          <p:nvPr/>
        </p:nvSpPr>
        <p:spPr>
          <a:xfrm>
            <a:off x="675203" y="3584496"/>
            <a:ext cx="6434138" cy="506492"/>
          </a:xfrm>
          <a:prstGeom prst="rect">
            <a:avLst/>
          </a:prstGeom>
          <a:noFill/>
          <a:ln/>
        </p:spPr>
        <p:txBody>
          <a:bodyPr wrap="square" lIns="0" tIns="0" rIns="0" bIns="0" rtlCol="0" anchor="t"/>
          <a:lstStyle/>
          <a:p>
            <a:r>
              <a:rPr lang="en-US" sz="1600" b="1" dirty="0" smtClean="0">
                <a:solidFill>
                  <a:schemeClr val="bg1"/>
                </a:solidFill>
              </a:rPr>
              <a:t>Is HTML a programming language?</a:t>
            </a:r>
          </a:p>
          <a:p>
            <a:endParaRPr lang="en-US" sz="1600" dirty="0">
              <a:solidFill>
                <a:schemeClr val="bg1"/>
              </a:solidFill>
            </a:endParaRPr>
          </a:p>
          <a:p>
            <a:pPr marL="285750" indent="-285750">
              <a:buFont typeface="Arial" pitchFamily="34" charset="0"/>
              <a:buChar char="•"/>
            </a:pPr>
            <a:r>
              <a:rPr lang="en-US" sz="1600" dirty="0" smtClean="0">
                <a:solidFill>
                  <a:schemeClr val="bg1"/>
                </a:solidFill>
              </a:rPr>
              <a:t>Programming languages have: loops, if conditions, functions, </a:t>
            </a:r>
            <a:r>
              <a:rPr lang="en-US" sz="1600" dirty="0" err="1" smtClean="0">
                <a:solidFill>
                  <a:schemeClr val="bg1"/>
                </a:solidFill>
              </a:rPr>
              <a:t>vars</a:t>
            </a:r>
            <a:r>
              <a:rPr lang="en-US" sz="1600" dirty="0" smtClean="0">
                <a:solidFill>
                  <a:schemeClr val="bg1"/>
                </a:solidFill>
              </a:rPr>
              <a:t>…</a:t>
            </a:r>
          </a:p>
          <a:p>
            <a:pPr marL="285750" indent="-285750">
              <a:buFont typeface="Arial" pitchFamily="34" charset="0"/>
              <a:buChar char="•"/>
            </a:pPr>
            <a:r>
              <a:rPr lang="en-US" sz="1600" dirty="0" smtClean="0">
                <a:solidFill>
                  <a:schemeClr val="bg1"/>
                </a:solidFill>
              </a:rPr>
              <a:t>Programming language can do logics, </a:t>
            </a:r>
            <a:r>
              <a:rPr lang="en-US" sz="1600" dirty="0" err="1" smtClean="0">
                <a:solidFill>
                  <a:schemeClr val="bg1"/>
                </a:solidFill>
              </a:rPr>
              <a:t>maths</a:t>
            </a:r>
            <a:r>
              <a:rPr lang="en-US" sz="1600" dirty="0" smtClean="0">
                <a:solidFill>
                  <a:schemeClr val="bg1"/>
                </a:solidFill>
              </a:rPr>
              <a:t>, run code, repeat task…</a:t>
            </a:r>
          </a:p>
          <a:p>
            <a:pPr marL="285750" indent="-285750">
              <a:buFont typeface="Arial" pitchFamily="34" charset="0"/>
              <a:buChar char="•"/>
            </a:pPr>
            <a:r>
              <a:rPr lang="en-US" sz="1600" dirty="0">
                <a:solidFill>
                  <a:schemeClr val="bg1"/>
                </a:solidFill>
              </a:rPr>
              <a:t> </a:t>
            </a:r>
            <a:r>
              <a:rPr lang="en-US" sz="1600" dirty="0" smtClean="0">
                <a:solidFill>
                  <a:schemeClr val="bg1"/>
                </a:solidFill>
              </a:rPr>
              <a:t>*****   building structure ≠ programming.   *******</a:t>
            </a:r>
          </a:p>
          <a:p>
            <a:pPr marL="285750" indent="-285750">
              <a:buFont typeface="Arial" pitchFamily="34" charset="0"/>
              <a:buChar char="•"/>
            </a:pPr>
            <a:r>
              <a:rPr lang="en-US" sz="1600" dirty="0" smtClean="0">
                <a:solidFill>
                  <a:schemeClr val="bg1"/>
                </a:solidFill>
              </a:rPr>
              <a:t>Html just tell the browser that this is title, paragraph, image, video, table</a:t>
            </a:r>
          </a:p>
          <a:p>
            <a:endParaRPr lang="en-US" sz="1600" dirty="0">
              <a:solidFill>
                <a:schemeClr val="bg1"/>
              </a:solidFill>
            </a:endParaRPr>
          </a:p>
        </p:txBody>
      </p:sp>
      <p:sp>
        <p:nvSpPr>
          <p:cNvPr id="10" name="Text 7"/>
          <p:cNvSpPr/>
          <p:nvPr/>
        </p:nvSpPr>
        <p:spPr>
          <a:xfrm>
            <a:off x="7781806" y="2464450"/>
            <a:ext cx="6181011" cy="253246"/>
          </a:xfrm>
          <a:prstGeom prst="rect">
            <a:avLst/>
          </a:prstGeom>
          <a:noFill/>
          <a:ln/>
        </p:spPr>
        <p:txBody>
          <a:bodyPr wrap="none" lIns="0" tIns="0" rIns="0" bIns="0" rtlCol="0" anchor="t"/>
          <a:lstStyle/>
          <a:p>
            <a:pPr marL="0" indent="0" algn="l">
              <a:lnSpc>
                <a:spcPts val="1950"/>
              </a:lnSpc>
              <a:buNone/>
            </a:pPr>
            <a:r>
              <a:rPr lang="en-US" sz="1600" b="1" dirty="0">
                <a:solidFill>
                  <a:srgbClr val="E2E6E9"/>
                </a:solidFill>
                <a:latin typeface="Source Sans 3" pitchFamily="34" charset="0"/>
                <a:ea typeface="Source Sans 3" pitchFamily="34" charset="-122"/>
                <a:cs typeface="Source Sans 3" pitchFamily="34" charset="-120"/>
              </a:rPr>
              <a:t>HTML = Structure (What's on the page)</a:t>
            </a:r>
            <a:endParaRPr lang="en-US" sz="1600" dirty="0"/>
          </a:p>
        </p:txBody>
      </p:sp>
      <p:sp>
        <p:nvSpPr>
          <p:cNvPr id="11" name="Text 8"/>
          <p:cNvSpPr/>
          <p:nvPr/>
        </p:nvSpPr>
        <p:spPr>
          <a:xfrm>
            <a:off x="7774185" y="2807970"/>
            <a:ext cx="6181011" cy="253246"/>
          </a:xfrm>
          <a:prstGeom prst="rect">
            <a:avLst/>
          </a:prstGeom>
          <a:noFill/>
          <a:ln/>
        </p:spPr>
        <p:txBody>
          <a:bodyPr wrap="none" lIns="0" tIns="0" rIns="0" bIns="0" rtlCol="0" anchor="t"/>
          <a:lstStyle/>
          <a:p>
            <a:pPr marL="0" indent="0" algn="l">
              <a:lnSpc>
                <a:spcPts val="1950"/>
              </a:lnSpc>
              <a:buNone/>
            </a:pPr>
            <a:r>
              <a:rPr lang="en-US" sz="1600" b="1" dirty="0">
                <a:solidFill>
                  <a:srgbClr val="E2E6E9"/>
                </a:solidFill>
                <a:latin typeface="Source Sans 3" pitchFamily="34" charset="0"/>
                <a:ea typeface="Source Sans 3" pitchFamily="34" charset="-122"/>
                <a:cs typeface="Source Sans 3" pitchFamily="34" charset="-120"/>
              </a:rPr>
              <a:t>CSS = Style (How it looks</a:t>
            </a:r>
            <a:r>
              <a:rPr lang="en-US" sz="1600" b="1" dirty="0" smtClean="0">
                <a:solidFill>
                  <a:srgbClr val="E2E6E9"/>
                </a:solidFill>
                <a:latin typeface="Source Sans 3" pitchFamily="34" charset="0"/>
                <a:ea typeface="Source Sans 3" pitchFamily="34" charset="-122"/>
                <a:cs typeface="Source Sans 3" pitchFamily="34" charset="-120"/>
              </a:rPr>
              <a:t>)</a:t>
            </a:r>
          </a:p>
          <a:p>
            <a:pPr marL="285750" indent="-285750" algn="l">
              <a:lnSpc>
                <a:spcPts val="1950"/>
              </a:lnSpc>
              <a:buFont typeface="Arial" pitchFamily="34" charset="0"/>
              <a:buChar char="•"/>
            </a:pPr>
            <a:r>
              <a:rPr lang="en-US" sz="1600" b="1" dirty="0" smtClean="0">
                <a:solidFill>
                  <a:srgbClr val="E2E6E9"/>
                </a:solidFill>
                <a:latin typeface="Source Sans 3" pitchFamily="34" charset="0"/>
              </a:rPr>
              <a:t>Makes the colors</a:t>
            </a:r>
          </a:p>
          <a:p>
            <a:pPr marL="285750" indent="-285750" algn="l">
              <a:lnSpc>
                <a:spcPts val="1950"/>
              </a:lnSpc>
              <a:buFont typeface="Arial" pitchFamily="34" charset="0"/>
              <a:buChar char="•"/>
            </a:pPr>
            <a:r>
              <a:rPr lang="en-US" sz="1600" b="1" dirty="0" smtClean="0">
                <a:solidFill>
                  <a:srgbClr val="E2E6E9"/>
                </a:solidFill>
                <a:latin typeface="Source Sans 3" pitchFamily="34" charset="0"/>
              </a:rPr>
              <a:t>Size</a:t>
            </a:r>
          </a:p>
          <a:p>
            <a:pPr marL="285750" indent="-285750" algn="l">
              <a:lnSpc>
                <a:spcPts val="1950"/>
              </a:lnSpc>
              <a:buFont typeface="Arial" pitchFamily="34" charset="0"/>
              <a:buChar char="•"/>
            </a:pPr>
            <a:r>
              <a:rPr lang="en-US" sz="1600" b="1" dirty="0" smtClean="0">
                <a:solidFill>
                  <a:srgbClr val="E2E6E9"/>
                </a:solidFill>
                <a:latin typeface="Source Sans 3" pitchFamily="34" charset="0"/>
              </a:rPr>
              <a:t>Position </a:t>
            </a:r>
          </a:p>
          <a:p>
            <a:pPr marL="285750" indent="-285750" algn="l">
              <a:lnSpc>
                <a:spcPts val="1950"/>
              </a:lnSpc>
              <a:buFont typeface="Arial" pitchFamily="34" charset="0"/>
              <a:buChar char="•"/>
            </a:pPr>
            <a:r>
              <a:rPr lang="en-US" sz="1600" b="1" dirty="0" smtClean="0">
                <a:solidFill>
                  <a:srgbClr val="E2E6E9"/>
                </a:solidFill>
                <a:latin typeface="Source Sans 3" pitchFamily="34" charset="0"/>
              </a:rPr>
              <a:t>Responsive</a:t>
            </a:r>
          </a:p>
          <a:p>
            <a:pPr marL="285750" indent="-285750" algn="l">
              <a:lnSpc>
                <a:spcPts val="1950"/>
              </a:lnSpc>
              <a:buFont typeface="Arial" pitchFamily="34" charset="0"/>
              <a:buChar char="•"/>
            </a:pPr>
            <a:endParaRPr lang="en-US" sz="1300" b="1" dirty="0">
              <a:solidFill>
                <a:srgbClr val="E2E6E9"/>
              </a:solidFill>
              <a:latin typeface="Source Sans 3" pitchFamily="34" charset="0"/>
            </a:endParaRPr>
          </a:p>
          <a:p>
            <a:pPr marL="0" indent="0" algn="l">
              <a:lnSpc>
                <a:spcPts val="1950"/>
              </a:lnSpc>
              <a:buNone/>
            </a:pPr>
            <a:endParaRPr lang="en-US" sz="1300" dirty="0"/>
          </a:p>
        </p:txBody>
      </p:sp>
      <p:sp>
        <p:nvSpPr>
          <p:cNvPr id="12" name="Text 9"/>
          <p:cNvSpPr/>
          <p:nvPr/>
        </p:nvSpPr>
        <p:spPr>
          <a:xfrm>
            <a:off x="7685552" y="4617902"/>
            <a:ext cx="6181011" cy="253246"/>
          </a:xfrm>
          <a:prstGeom prst="rect">
            <a:avLst/>
          </a:prstGeom>
          <a:noFill/>
          <a:ln/>
        </p:spPr>
        <p:txBody>
          <a:bodyPr wrap="none" lIns="0" tIns="0" rIns="0" bIns="0" rtlCol="0" anchor="t"/>
          <a:lstStyle/>
          <a:p>
            <a:pPr marL="0" indent="0" algn="l">
              <a:lnSpc>
                <a:spcPts val="1950"/>
              </a:lnSpc>
              <a:buNone/>
            </a:pPr>
            <a:r>
              <a:rPr lang="en-US" sz="1600" dirty="0" smtClean="0">
                <a:solidFill>
                  <a:srgbClr val="E2E6E9"/>
                </a:solidFill>
                <a:latin typeface="Source Sans 3" pitchFamily="34" charset="0"/>
                <a:ea typeface="Source Sans 3" pitchFamily="34" charset="-122"/>
                <a:cs typeface="Source Sans 3" pitchFamily="34" charset="-120"/>
              </a:rPr>
              <a:t>    JS </a:t>
            </a:r>
            <a:r>
              <a:rPr lang="en-US" sz="1600" dirty="0">
                <a:solidFill>
                  <a:srgbClr val="E2E6E9"/>
                </a:solidFill>
                <a:latin typeface="Source Sans 3" pitchFamily="34" charset="0"/>
                <a:ea typeface="Source Sans 3" pitchFamily="34" charset="-122"/>
                <a:cs typeface="Source Sans 3" pitchFamily="34" charset="-120"/>
              </a:rPr>
              <a:t>= Interactivity (How it behaves</a:t>
            </a:r>
            <a:r>
              <a:rPr lang="en-US" sz="1600" dirty="0" smtClean="0">
                <a:solidFill>
                  <a:srgbClr val="E2E6E9"/>
                </a:solidFill>
                <a:latin typeface="Source Sans 3" pitchFamily="34" charset="0"/>
                <a:ea typeface="Source Sans 3" pitchFamily="34" charset="-122"/>
                <a:cs typeface="Source Sans 3" pitchFamily="34" charset="-120"/>
              </a:rPr>
              <a:t>)</a:t>
            </a:r>
          </a:p>
          <a:p>
            <a:pPr marL="285750" indent="-285750" algn="l">
              <a:lnSpc>
                <a:spcPts val="1950"/>
              </a:lnSpc>
              <a:buFont typeface="Arial" pitchFamily="34" charset="0"/>
              <a:buChar char="•"/>
            </a:pPr>
            <a:r>
              <a:rPr lang="en-US" sz="1600" dirty="0" smtClean="0">
                <a:solidFill>
                  <a:srgbClr val="E2E6E9"/>
                </a:solidFill>
                <a:latin typeface="Source Sans 3" pitchFamily="34" charset="0"/>
              </a:rPr>
              <a:t>The logic</a:t>
            </a:r>
          </a:p>
          <a:p>
            <a:pPr marL="285750" indent="-285750" algn="l">
              <a:lnSpc>
                <a:spcPts val="1950"/>
              </a:lnSpc>
              <a:buFont typeface="Arial" pitchFamily="34" charset="0"/>
              <a:buChar char="•"/>
            </a:pPr>
            <a:r>
              <a:rPr lang="en-US" sz="1600" dirty="0" smtClean="0">
                <a:solidFill>
                  <a:srgbClr val="E2E6E9"/>
                </a:solidFill>
                <a:latin typeface="Source Sans 3" pitchFamily="34" charset="0"/>
              </a:rPr>
              <a:t>Working with </a:t>
            </a:r>
            <a:r>
              <a:rPr lang="en-US" sz="1600" dirty="0" err="1" smtClean="0">
                <a:solidFill>
                  <a:srgbClr val="E2E6E9"/>
                </a:solidFill>
                <a:latin typeface="Source Sans 3" pitchFamily="34" charset="0"/>
              </a:rPr>
              <a:t>apis</a:t>
            </a:r>
            <a:endParaRPr lang="en-US" sz="1600" dirty="0" smtClean="0">
              <a:solidFill>
                <a:srgbClr val="E2E6E9"/>
              </a:solidFill>
              <a:latin typeface="Source Sans 3" pitchFamily="34" charset="0"/>
            </a:endParaRPr>
          </a:p>
          <a:p>
            <a:pPr marL="285750" indent="-285750" algn="l">
              <a:lnSpc>
                <a:spcPts val="1950"/>
              </a:lnSpc>
              <a:buFont typeface="Arial" pitchFamily="34" charset="0"/>
              <a:buChar char="•"/>
            </a:pPr>
            <a:r>
              <a:rPr lang="en-US" sz="1600" dirty="0" smtClean="0">
                <a:solidFill>
                  <a:srgbClr val="E2E6E9"/>
                </a:solidFill>
                <a:latin typeface="Source Sans 3" pitchFamily="34" charset="0"/>
              </a:rPr>
              <a:t>Make </a:t>
            </a:r>
            <a:r>
              <a:rPr lang="en-US" sz="1600" dirty="0" err="1" smtClean="0">
                <a:solidFill>
                  <a:srgbClr val="E2E6E9"/>
                </a:solidFill>
                <a:latin typeface="Source Sans 3" pitchFamily="34" charset="0"/>
              </a:rPr>
              <a:t>maths</a:t>
            </a:r>
            <a:r>
              <a:rPr lang="en-US" sz="1600" dirty="0" smtClean="0">
                <a:solidFill>
                  <a:srgbClr val="E2E6E9"/>
                </a:solidFill>
                <a:latin typeface="Source Sans 3" pitchFamily="34" charset="0"/>
              </a:rPr>
              <a:t> operators</a:t>
            </a:r>
          </a:p>
          <a:p>
            <a:pPr marL="285750" indent="-285750" algn="l">
              <a:lnSpc>
                <a:spcPts val="1950"/>
              </a:lnSpc>
              <a:buFont typeface="Arial" pitchFamily="34" charset="0"/>
              <a:buChar char="•"/>
            </a:pPr>
            <a:r>
              <a:rPr lang="en-US" sz="1600" dirty="0" smtClean="0">
                <a:solidFill>
                  <a:srgbClr val="E2E6E9"/>
                </a:solidFill>
                <a:latin typeface="Source Sans 3" pitchFamily="34" charset="0"/>
              </a:rPr>
              <a:t>Interactive</a:t>
            </a:r>
          </a:p>
          <a:p>
            <a:pPr marL="285750" indent="-285750" algn="l">
              <a:lnSpc>
                <a:spcPts val="1950"/>
              </a:lnSpc>
              <a:buFont typeface="Arial" pitchFamily="34" charset="0"/>
              <a:buChar char="•"/>
            </a:pPr>
            <a:endParaRPr lang="en-US" sz="1600" dirty="0" smtClean="0"/>
          </a:p>
          <a:p>
            <a:pPr marL="285750" indent="-285750" algn="l">
              <a:lnSpc>
                <a:spcPts val="1950"/>
              </a:lnSpc>
              <a:buFont typeface="Arial" pitchFamily="34" charset="0"/>
              <a:buChar char="•"/>
            </a:pPr>
            <a:endParaRPr lang="en-US" sz="1600" dirty="0"/>
          </a:p>
          <a:p>
            <a:pPr marL="285750" indent="-285750" algn="l">
              <a:lnSpc>
                <a:spcPts val="1950"/>
              </a:lnSpc>
              <a:buFont typeface="Arial" pitchFamily="34" charset="0"/>
              <a:buChar char="•"/>
            </a:pPr>
            <a:endParaRPr lang="en-US" sz="1600" dirty="0">
              <a:solidFill>
                <a:schemeClr val="bg1"/>
              </a:solidFill>
            </a:endParaRPr>
          </a:p>
        </p:txBody>
      </p:sp>
      <p:sp>
        <p:nvSpPr>
          <p:cNvPr id="13" name="Shape 10"/>
          <p:cNvSpPr/>
          <p:nvPr/>
        </p:nvSpPr>
        <p:spPr>
          <a:xfrm>
            <a:off x="7499803" y="2461855"/>
            <a:ext cx="45719" cy="3467307"/>
          </a:xfrm>
          <a:prstGeom prst="rect">
            <a:avLst/>
          </a:prstGeom>
          <a:solidFill>
            <a:srgbClr val="FFFFFF"/>
          </a:solidFill>
          <a:ln/>
        </p:spPr>
      </p:sp>
      <p:sp>
        <p:nvSpPr>
          <p:cNvPr id="14" name="Rectangle 13"/>
          <p:cNvSpPr/>
          <p:nvPr/>
        </p:nvSpPr>
        <p:spPr>
          <a:xfrm>
            <a:off x="3686476" y="6747847"/>
            <a:ext cx="5669991" cy="923330"/>
          </a:xfrm>
          <a:prstGeom prst="rect">
            <a:avLst/>
          </a:prstGeom>
        </p:spPr>
        <p:txBody>
          <a:bodyPr wrap="square">
            <a:spAutoFit/>
          </a:bodyPr>
          <a:lstStyle/>
          <a:p>
            <a:r>
              <a:rPr lang="en-US" dirty="0" smtClean="0">
                <a:solidFill>
                  <a:schemeClr val="bg1"/>
                </a:solidFill>
              </a:rPr>
              <a:t>Html: what is </a:t>
            </a:r>
          </a:p>
          <a:p>
            <a:r>
              <a:rPr lang="en-US" dirty="0" smtClean="0">
                <a:solidFill>
                  <a:schemeClr val="bg1"/>
                </a:solidFill>
              </a:rPr>
              <a:t>CSS: how it looks</a:t>
            </a:r>
          </a:p>
          <a:p>
            <a:r>
              <a:rPr lang="en-US" dirty="0" smtClean="0">
                <a:solidFill>
                  <a:schemeClr val="bg1"/>
                </a:solidFill>
              </a:rPr>
              <a:t>JS: How It Works </a:t>
            </a:r>
            <a:endParaRPr lang="en-US"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31840" y="296942"/>
            <a:ext cx="5402342" cy="306705"/>
          </a:xfrm>
          <a:prstGeom prst="rect">
            <a:avLst/>
          </a:prstGeom>
          <a:noFill/>
          <a:ln/>
        </p:spPr>
        <p:txBody>
          <a:bodyPr wrap="none" lIns="0" tIns="0" rIns="0" bIns="0" rtlCol="0" anchor="t"/>
          <a:lstStyle/>
          <a:p>
            <a:pPr marL="0" indent="0" algn="l">
              <a:lnSpc>
                <a:spcPts val="2400"/>
              </a:lnSpc>
              <a:buNone/>
            </a:pPr>
            <a:r>
              <a:rPr lang="en-US" sz="1900" b="1" dirty="0">
                <a:solidFill>
                  <a:srgbClr val="FFFFFF"/>
                </a:solidFill>
                <a:latin typeface="Montserrat Bold" pitchFamily="34" charset="0"/>
                <a:ea typeface="Montserrat Bold" pitchFamily="34" charset="-122"/>
                <a:cs typeface="Montserrat Bold" pitchFamily="34" charset="-120"/>
              </a:rPr>
              <a:t>How the Browser Renders Your Web Page</a:t>
            </a:r>
            <a:endParaRPr lang="en-US" sz="1900" dirty="0"/>
          </a:p>
        </p:txBody>
      </p:sp>
      <p:sp>
        <p:nvSpPr>
          <p:cNvPr id="3" name="Text 1"/>
          <p:cNvSpPr/>
          <p:nvPr/>
        </p:nvSpPr>
        <p:spPr>
          <a:xfrm>
            <a:off x="431840" y="819507"/>
            <a:ext cx="13766721" cy="161925"/>
          </a:xfrm>
          <a:prstGeom prst="rect">
            <a:avLst/>
          </a:prstGeom>
          <a:noFill/>
          <a:ln/>
        </p:spPr>
        <p:txBody>
          <a:bodyPr wrap="none" lIns="0" tIns="0" rIns="0" bIns="0" rtlCol="0" anchor="t"/>
          <a:lstStyle/>
          <a:p>
            <a:pPr marL="0" indent="0" algn="l">
              <a:lnSpc>
                <a:spcPts val="1250"/>
              </a:lnSpc>
              <a:buNone/>
            </a:pPr>
            <a:r>
              <a:rPr lang="en-US" sz="850" dirty="0">
                <a:solidFill>
                  <a:srgbClr val="E2E6E9"/>
                </a:solidFill>
                <a:latin typeface="Source Sans 3" pitchFamily="34" charset="0"/>
                <a:ea typeface="Source Sans 3" pitchFamily="34" charset="-122"/>
                <a:cs typeface="Source Sans 3" pitchFamily="34" charset="-120"/>
              </a:rPr>
              <a:t>Understanding how a browser processes your HTML is crucial for effective web development. It's a systematic process that transforms raw code into the visual experience you see.</a:t>
            </a:r>
            <a:endParaRPr lang="en-US" sz="850" dirty="0"/>
          </a:p>
        </p:txBody>
      </p:sp>
      <p:pic>
        <p:nvPicPr>
          <p:cNvPr id="4" name="Image 0" descr="preencoded.png"/>
          <p:cNvPicPr>
            <a:picLocks noChangeAspect="1"/>
          </p:cNvPicPr>
          <p:nvPr/>
        </p:nvPicPr>
        <p:blipFill>
          <a:blip r:embed="rId3"/>
          <a:stretch>
            <a:fillRect/>
          </a:stretch>
        </p:blipFill>
        <p:spPr>
          <a:xfrm>
            <a:off x="431840" y="1102876"/>
            <a:ext cx="539829" cy="647819"/>
          </a:xfrm>
          <a:prstGeom prst="rect">
            <a:avLst/>
          </a:prstGeom>
        </p:spPr>
      </p:pic>
      <p:sp>
        <p:nvSpPr>
          <p:cNvPr id="5" name="Text 2"/>
          <p:cNvSpPr/>
          <p:nvPr/>
        </p:nvSpPr>
        <p:spPr>
          <a:xfrm>
            <a:off x="1079540" y="1210747"/>
            <a:ext cx="1690568" cy="153352"/>
          </a:xfrm>
          <a:prstGeom prst="rect">
            <a:avLst/>
          </a:prstGeom>
          <a:noFill/>
          <a:ln/>
        </p:spPr>
        <p:txBody>
          <a:bodyPr wrap="none" lIns="0" tIns="0" rIns="0" bIns="0" rtlCol="0" anchor="t"/>
          <a:lstStyle/>
          <a:p>
            <a:pPr marL="0" indent="0" algn="l">
              <a:lnSpc>
                <a:spcPts val="1200"/>
              </a:lnSpc>
              <a:buNone/>
            </a:pPr>
            <a:r>
              <a:rPr lang="en-US" sz="1600" b="1" dirty="0">
                <a:solidFill>
                  <a:srgbClr val="E2E6E9"/>
                </a:solidFill>
                <a:latin typeface="Montserrat Bold" pitchFamily="34" charset="0"/>
                <a:ea typeface="Montserrat Bold" pitchFamily="34" charset="-122"/>
                <a:cs typeface="Montserrat Bold" pitchFamily="34" charset="-120"/>
              </a:rPr>
              <a:t>Browser Downloads HTML</a:t>
            </a:r>
            <a:endParaRPr lang="en-US" sz="1600" dirty="0"/>
          </a:p>
        </p:txBody>
      </p:sp>
      <p:sp>
        <p:nvSpPr>
          <p:cNvPr id="6" name="Text 3"/>
          <p:cNvSpPr/>
          <p:nvPr/>
        </p:nvSpPr>
        <p:spPr>
          <a:xfrm>
            <a:off x="1079540" y="1428869"/>
            <a:ext cx="13119021" cy="161925"/>
          </a:xfrm>
          <a:prstGeom prst="rect">
            <a:avLst/>
          </a:prstGeom>
          <a:noFill/>
          <a:ln/>
        </p:spPr>
        <p:txBody>
          <a:bodyPr wrap="none" lIns="0" tIns="0" rIns="0" bIns="0" rtlCol="0" anchor="t"/>
          <a:lstStyle/>
          <a:p>
            <a:pPr marL="0" indent="0" algn="l">
              <a:lnSpc>
                <a:spcPts val="1250"/>
              </a:lnSpc>
              <a:buNone/>
            </a:pPr>
            <a:r>
              <a:rPr lang="en-US" sz="1400" dirty="0">
                <a:solidFill>
                  <a:srgbClr val="E2E6E9"/>
                </a:solidFill>
                <a:latin typeface="Source Sans 3" pitchFamily="34" charset="0"/>
                <a:ea typeface="Source Sans 3" pitchFamily="34" charset="-122"/>
                <a:cs typeface="Source Sans 3" pitchFamily="34" charset="-120"/>
              </a:rPr>
              <a:t>The initial step where your browser fetches the HTML file from a server.</a:t>
            </a:r>
            <a:endParaRPr lang="en-US" sz="1400" dirty="0"/>
          </a:p>
        </p:txBody>
      </p:sp>
      <p:pic>
        <p:nvPicPr>
          <p:cNvPr id="7" name="Image 1" descr="preencoded.png"/>
          <p:cNvPicPr>
            <a:picLocks noChangeAspect="1"/>
          </p:cNvPicPr>
          <p:nvPr/>
        </p:nvPicPr>
        <p:blipFill>
          <a:blip r:embed="rId4"/>
          <a:stretch>
            <a:fillRect/>
          </a:stretch>
        </p:blipFill>
        <p:spPr>
          <a:xfrm>
            <a:off x="431840" y="1750695"/>
            <a:ext cx="539829" cy="647819"/>
          </a:xfrm>
          <a:prstGeom prst="rect">
            <a:avLst/>
          </a:prstGeom>
        </p:spPr>
      </p:pic>
      <p:sp>
        <p:nvSpPr>
          <p:cNvPr id="8" name="Text 4"/>
          <p:cNvSpPr/>
          <p:nvPr/>
        </p:nvSpPr>
        <p:spPr>
          <a:xfrm>
            <a:off x="1079540" y="1858566"/>
            <a:ext cx="1231583" cy="153352"/>
          </a:xfrm>
          <a:prstGeom prst="rect">
            <a:avLst/>
          </a:prstGeom>
          <a:noFill/>
          <a:ln/>
        </p:spPr>
        <p:txBody>
          <a:bodyPr wrap="none" lIns="0" tIns="0" rIns="0" bIns="0" rtlCol="0" anchor="t"/>
          <a:lstStyle/>
          <a:p>
            <a:pPr marL="0" indent="0" algn="l">
              <a:lnSpc>
                <a:spcPts val="1200"/>
              </a:lnSpc>
              <a:buNone/>
            </a:pPr>
            <a:r>
              <a:rPr lang="en-US" sz="1600" b="1" dirty="0">
                <a:solidFill>
                  <a:srgbClr val="E2E6E9"/>
                </a:solidFill>
                <a:latin typeface="Montserrat Bold" pitchFamily="34" charset="0"/>
                <a:ea typeface="Montserrat Bold" pitchFamily="34" charset="-122"/>
                <a:cs typeface="Montserrat Bold" pitchFamily="34" charset="-120"/>
              </a:rPr>
              <a:t>Parses Line by Line</a:t>
            </a:r>
            <a:endParaRPr lang="en-US" sz="1600" dirty="0"/>
          </a:p>
        </p:txBody>
      </p:sp>
      <p:sp>
        <p:nvSpPr>
          <p:cNvPr id="9" name="Text 5"/>
          <p:cNvSpPr/>
          <p:nvPr/>
        </p:nvSpPr>
        <p:spPr>
          <a:xfrm>
            <a:off x="1079540" y="2076688"/>
            <a:ext cx="13119021" cy="161925"/>
          </a:xfrm>
          <a:prstGeom prst="rect">
            <a:avLst/>
          </a:prstGeom>
          <a:noFill/>
          <a:ln/>
        </p:spPr>
        <p:txBody>
          <a:bodyPr wrap="none" lIns="0" tIns="0" rIns="0" bIns="0" rtlCol="0" anchor="t"/>
          <a:lstStyle/>
          <a:p>
            <a:pPr marL="0" indent="0" algn="l">
              <a:lnSpc>
                <a:spcPts val="1250"/>
              </a:lnSpc>
              <a:buNone/>
            </a:pPr>
            <a:r>
              <a:rPr lang="en-US" sz="1400" dirty="0">
                <a:solidFill>
                  <a:srgbClr val="E2E6E9"/>
                </a:solidFill>
                <a:latin typeface="Source Sans 3" pitchFamily="34" charset="0"/>
                <a:ea typeface="Source Sans 3" pitchFamily="34" charset="-122"/>
                <a:cs typeface="Source Sans 3" pitchFamily="34" charset="-120"/>
              </a:rPr>
              <a:t>The browser reads and interprets the HTML code sequentially, understanding its structure.</a:t>
            </a:r>
            <a:endParaRPr lang="en-US" sz="1400" dirty="0"/>
          </a:p>
        </p:txBody>
      </p:sp>
      <p:pic>
        <p:nvPicPr>
          <p:cNvPr id="10" name="Image 2" descr="preencoded.png"/>
          <p:cNvPicPr>
            <a:picLocks noChangeAspect="1"/>
          </p:cNvPicPr>
          <p:nvPr/>
        </p:nvPicPr>
        <p:blipFill>
          <a:blip r:embed="rId5"/>
          <a:stretch>
            <a:fillRect/>
          </a:stretch>
        </p:blipFill>
        <p:spPr>
          <a:xfrm>
            <a:off x="431840" y="2398514"/>
            <a:ext cx="539829" cy="647819"/>
          </a:xfrm>
          <a:prstGeom prst="rect">
            <a:avLst/>
          </a:prstGeom>
        </p:spPr>
      </p:pic>
      <p:sp>
        <p:nvSpPr>
          <p:cNvPr id="11" name="Text 6"/>
          <p:cNvSpPr/>
          <p:nvPr/>
        </p:nvSpPr>
        <p:spPr>
          <a:xfrm>
            <a:off x="1079540" y="2506385"/>
            <a:ext cx="1227058" cy="153352"/>
          </a:xfrm>
          <a:prstGeom prst="rect">
            <a:avLst/>
          </a:prstGeom>
          <a:noFill/>
          <a:ln/>
        </p:spPr>
        <p:txBody>
          <a:bodyPr wrap="none" lIns="0" tIns="0" rIns="0" bIns="0" rtlCol="0" anchor="t"/>
          <a:lstStyle/>
          <a:p>
            <a:pPr marL="0" indent="0" algn="l">
              <a:lnSpc>
                <a:spcPts val="1200"/>
              </a:lnSpc>
              <a:buNone/>
            </a:pPr>
            <a:r>
              <a:rPr lang="en-US" sz="1600" b="1" dirty="0">
                <a:solidFill>
                  <a:srgbClr val="E2E6E9"/>
                </a:solidFill>
                <a:latin typeface="Montserrat Bold" pitchFamily="34" charset="0"/>
                <a:ea typeface="Montserrat Bold" pitchFamily="34" charset="-122"/>
                <a:cs typeface="Montserrat Bold" pitchFamily="34" charset="-120"/>
              </a:rPr>
              <a:t>Builds the DOM</a:t>
            </a:r>
            <a:endParaRPr lang="en-US" sz="1600" dirty="0"/>
          </a:p>
        </p:txBody>
      </p:sp>
      <p:sp>
        <p:nvSpPr>
          <p:cNvPr id="12" name="Text 7"/>
          <p:cNvSpPr/>
          <p:nvPr/>
        </p:nvSpPr>
        <p:spPr>
          <a:xfrm>
            <a:off x="1079540" y="2724507"/>
            <a:ext cx="13119021" cy="161925"/>
          </a:xfrm>
          <a:prstGeom prst="rect">
            <a:avLst/>
          </a:prstGeom>
          <a:noFill/>
          <a:ln/>
        </p:spPr>
        <p:txBody>
          <a:bodyPr wrap="none" lIns="0" tIns="0" rIns="0" bIns="0" rtlCol="0" anchor="t"/>
          <a:lstStyle/>
          <a:p>
            <a:pPr marL="0" indent="0" algn="l">
              <a:lnSpc>
                <a:spcPts val="1250"/>
              </a:lnSpc>
              <a:buNone/>
            </a:pPr>
            <a:r>
              <a:rPr lang="en-US" sz="1400" dirty="0">
                <a:solidFill>
                  <a:srgbClr val="E2E6E9"/>
                </a:solidFill>
                <a:latin typeface="Source Sans 3" pitchFamily="34" charset="0"/>
                <a:ea typeface="Source Sans 3" pitchFamily="34" charset="-122"/>
                <a:cs typeface="Source Sans 3" pitchFamily="34" charset="-120"/>
              </a:rPr>
              <a:t>A tree-like representation of the HTML document is created, making each element accessible.</a:t>
            </a:r>
            <a:endParaRPr lang="en-US" sz="1400" dirty="0"/>
          </a:p>
        </p:txBody>
      </p:sp>
      <p:pic>
        <p:nvPicPr>
          <p:cNvPr id="13" name="Image 3" descr="preencoded.png"/>
          <p:cNvPicPr>
            <a:picLocks noChangeAspect="1"/>
          </p:cNvPicPr>
          <p:nvPr/>
        </p:nvPicPr>
        <p:blipFill>
          <a:blip r:embed="rId6"/>
          <a:stretch>
            <a:fillRect/>
          </a:stretch>
        </p:blipFill>
        <p:spPr>
          <a:xfrm>
            <a:off x="431840" y="3046333"/>
            <a:ext cx="539829" cy="647819"/>
          </a:xfrm>
          <a:prstGeom prst="rect">
            <a:avLst/>
          </a:prstGeom>
        </p:spPr>
      </p:pic>
      <p:sp>
        <p:nvSpPr>
          <p:cNvPr id="14" name="Text 8"/>
          <p:cNvSpPr/>
          <p:nvPr/>
        </p:nvSpPr>
        <p:spPr>
          <a:xfrm>
            <a:off x="1079540" y="3154204"/>
            <a:ext cx="1296710" cy="153352"/>
          </a:xfrm>
          <a:prstGeom prst="rect">
            <a:avLst/>
          </a:prstGeom>
          <a:noFill/>
          <a:ln/>
        </p:spPr>
        <p:txBody>
          <a:bodyPr wrap="none" lIns="0" tIns="0" rIns="0" bIns="0" rtlCol="0" anchor="t"/>
          <a:lstStyle/>
          <a:p>
            <a:pPr marL="0" indent="0" algn="l">
              <a:lnSpc>
                <a:spcPts val="1200"/>
              </a:lnSpc>
              <a:buNone/>
            </a:pPr>
            <a:r>
              <a:rPr lang="en-US" sz="1600" b="1" dirty="0">
                <a:solidFill>
                  <a:srgbClr val="E2E6E9"/>
                </a:solidFill>
                <a:latin typeface="Montserrat Bold" pitchFamily="34" charset="0"/>
                <a:ea typeface="Montserrat Bold" pitchFamily="34" charset="-122"/>
                <a:cs typeface="Montserrat Bold" pitchFamily="34" charset="-120"/>
              </a:rPr>
              <a:t>Loads &amp; Applies CSS</a:t>
            </a:r>
            <a:endParaRPr lang="en-US" sz="1600" dirty="0"/>
          </a:p>
        </p:txBody>
      </p:sp>
      <p:sp>
        <p:nvSpPr>
          <p:cNvPr id="15" name="Text 9"/>
          <p:cNvSpPr/>
          <p:nvPr/>
        </p:nvSpPr>
        <p:spPr>
          <a:xfrm>
            <a:off x="1079540" y="3372326"/>
            <a:ext cx="13119021" cy="161925"/>
          </a:xfrm>
          <a:prstGeom prst="rect">
            <a:avLst/>
          </a:prstGeom>
          <a:noFill/>
          <a:ln/>
        </p:spPr>
        <p:txBody>
          <a:bodyPr wrap="none" lIns="0" tIns="0" rIns="0" bIns="0" rtlCol="0" anchor="t"/>
          <a:lstStyle/>
          <a:p>
            <a:pPr marL="0" indent="0" algn="l">
              <a:lnSpc>
                <a:spcPts val="1250"/>
              </a:lnSpc>
              <a:buNone/>
            </a:pPr>
            <a:r>
              <a:rPr lang="en-US" sz="1400" dirty="0">
                <a:solidFill>
                  <a:srgbClr val="E2E6E9"/>
                </a:solidFill>
                <a:latin typeface="Source Sans 3" pitchFamily="34" charset="0"/>
                <a:ea typeface="Source Sans 3" pitchFamily="34" charset="-122"/>
                <a:cs typeface="Source Sans 3" pitchFamily="34" charset="-120"/>
              </a:rPr>
              <a:t>External stylesheets are fetched, and their rules are applied to the DOM elements, defining the page's appearance.</a:t>
            </a:r>
            <a:endParaRPr lang="en-US" sz="1400" dirty="0"/>
          </a:p>
        </p:txBody>
      </p:sp>
      <p:pic>
        <p:nvPicPr>
          <p:cNvPr id="16" name="Image 4" descr="preencoded.png"/>
          <p:cNvPicPr>
            <a:picLocks noChangeAspect="1"/>
          </p:cNvPicPr>
          <p:nvPr/>
        </p:nvPicPr>
        <p:blipFill>
          <a:blip r:embed="rId7"/>
          <a:stretch>
            <a:fillRect/>
          </a:stretch>
        </p:blipFill>
        <p:spPr>
          <a:xfrm>
            <a:off x="431840" y="3694152"/>
            <a:ext cx="539829" cy="647819"/>
          </a:xfrm>
          <a:prstGeom prst="rect">
            <a:avLst/>
          </a:prstGeom>
        </p:spPr>
      </p:pic>
      <p:sp>
        <p:nvSpPr>
          <p:cNvPr id="17" name="Text 10"/>
          <p:cNvSpPr/>
          <p:nvPr/>
        </p:nvSpPr>
        <p:spPr>
          <a:xfrm>
            <a:off x="1079540" y="3802023"/>
            <a:ext cx="1855351" cy="153352"/>
          </a:xfrm>
          <a:prstGeom prst="rect">
            <a:avLst/>
          </a:prstGeom>
          <a:noFill/>
          <a:ln/>
        </p:spPr>
        <p:txBody>
          <a:bodyPr wrap="none" lIns="0" tIns="0" rIns="0" bIns="0" rtlCol="0" anchor="t"/>
          <a:lstStyle/>
          <a:p>
            <a:pPr marL="0" indent="0" algn="l">
              <a:lnSpc>
                <a:spcPts val="1200"/>
              </a:lnSpc>
              <a:buNone/>
            </a:pPr>
            <a:r>
              <a:rPr lang="en-US" sz="1600" b="1" dirty="0">
                <a:solidFill>
                  <a:srgbClr val="E2E6E9"/>
                </a:solidFill>
                <a:latin typeface="Montserrat Bold" pitchFamily="34" charset="0"/>
                <a:ea typeface="Montserrat Bold" pitchFamily="34" charset="-122"/>
                <a:cs typeface="Montserrat Bold" pitchFamily="34" charset="-120"/>
              </a:rPr>
              <a:t>Loads &amp; Adds JS Interactivity</a:t>
            </a:r>
            <a:endParaRPr lang="en-US" sz="1600" dirty="0"/>
          </a:p>
        </p:txBody>
      </p:sp>
      <p:sp>
        <p:nvSpPr>
          <p:cNvPr id="18" name="Text 11"/>
          <p:cNvSpPr/>
          <p:nvPr/>
        </p:nvSpPr>
        <p:spPr>
          <a:xfrm>
            <a:off x="1079540" y="4020145"/>
            <a:ext cx="13119021" cy="161925"/>
          </a:xfrm>
          <a:prstGeom prst="rect">
            <a:avLst/>
          </a:prstGeom>
          <a:noFill/>
          <a:ln/>
        </p:spPr>
        <p:txBody>
          <a:bodyPr wrap="none" lIns="0" tIns="0" rIns="0" bIns="0" rtlCol="0" anchor="t"/>
          <a:lstStyle/>
          <a:p>
            <a:pPr>
              <a:lnSpc>
                <a:spcPts val="1250"/>
              </a:lnSpc>
            </a:pPr>
            <a:r>
              <a:rPr lang="en-US" sz="1400" dirty="0">
                <a:solidFill>
                  <a:schemeClr val="bg1"/>
                </a:solidFill>
                <a:latin typeface="Source Sans 3" pitchFamily="34" charset="0"/>
                <a:ea typeface="Source Sans 3" pitchFamily="34" charset="-122"/>
                <a:cs typeface="Source Sans 3" pitchFamily="34" charset="-120"/>
              </a:rPr>
              <a:t>JavaScript files are loaded, allowing the page to become dynamic and respond to user </a:t>
            </a:r>
            <a:r>
              <a:rPr lang="en-US" sz="1400" dirty="0" smtClean="0">
                <a:solidFill>
                  <a:schemeClr val="bg1"/>
                </a:solidFill>
                <a:latin typeface="Source Sans 3" pitchFamily="34" charset="0"/>
                <a:ea typeface="Source Sans 3" pitchFamily="34" charset="-122"/>
                <a:cs typeface="Source Sans 3" pitchFamily="34" charset="-120"/>
              </a:rPr>
              <a:t>actions</a:t>
            </a:r>
          </a:p>
          <a:p>
            <a:pPr>
              <a:lnSpc>
                <a:spcPts val="1250"/>
              </a:lnSpc>
            </a:pPr>
            <a:endParaRPr lang="en-US" sz="1400" dirty="0">
              <a:solidFill>
                <a:schemeClr val="bg1"/>
              </a:solidFill>
              <a:latin typeface="Source Sans 3" pitchFamily="34" charset="0"/>
            </a:endParaRPr>
          </a:p>
          <a:p>
            <a:pPr>
              <a:lnSpc>
                <a:spcPts val="1250"/>
              </a:lnSpc>
            </a:pPr>
            <a:endParaRPr lang="en-US" sz="1400" dirty="0" smtClean="0">
              <a:solidFill>
                <a:schemeClr val="bg1"/>
              </a:solidFill>
              <a:latin typeface="Source Sans 3" pitchFamily="34" charset="0"/>
            </a:endParaRPr>
          </a:p>
          <a:p>
            <a:pPr>
              <a:lnSpc>
                <a:spcPts val="1250"/>
              </a:lnSpc>
            </a:pPr>
            <a:endParaRPr lang="en-US" sz="1400" dirty="0">
              <a:solidFill>
                <a:schemeClr val="bg1"/>
              </a:solidFill>
              <a:latin typeface="Source Sans 3" pitchFamily="34" charset="0"/>
            </a:endParaRPr>
          </a:p>
          <a:p>
            <a:pPr>
              <a:lnSpc>
                <a:spcPts val="1250"/>
              </a:lnSpc>
            </a:pPr>
            <a:r>
              <a:rPr lang="en-US" sz="1400" dirty="0" smtClean="0">
                <a:solidFill>
                  <a:schemeClr val="bg1"/>
                </a:solidFill>
              </a:rPr>
              <a:t>The browser downloads the HTML =&gt;</a:t>
            </a:r>
          </a:p>
          <a:p>
            <a:pPr>
              <a:lnSpc>
                <a:spcPts val="1250"/>
              </a:lnSpc>
            </a:pPr>
            <a:r>
              <a:rPr lang="en-US" sz="1400" dirty="0" smtClean="0">
                <a:solidFill>
                  <a:schemeClr val="bg1"/>
                </a:solidFill>
              </a:rPr>
              <a:t> parses it to build the DOM =&gt;</a:t>
            </a:r>
          </a:p>
          <a:p>
            <a:pPr>
              <a:lnSpc>
                <a:spcPts val="1250"/>
              </a:lnSpc>
            </a:pPr>
            <a:r>
              <a:rPr lang="en-US" sz="1400" dirty="0" smtClean="0">
                <a:solidFill>
                  <a:schemeClr val="bg1"/>
                </a:solidFill>
              </a:rPr>
              <a:t> loads the CSS to build the CSSOM =&gt;</a:t>
            </a:r>
          </a:p>
          <a:p>
            <a:pPr>
              <a:lnSpc>
                <a:spcPts val="1250"/>
              </a:lnSpc>
            </a:pPr>
            <a:r>
              <a:rPr lang="en-US" sz="1400" dirty="0" smtClean="0">
                <a:solidFill>
                  <a:schemeClr val="bg1"/>
                </a:solidFill>
              </a:rPr>
              <a:t> combines them into the Render Tree =&gt;</a:t>
            </a:r>
          </a:p>
          <a:p>
            <a:pPr>
              <a:lnSpc>
                <a:spcPts val="1250"/>
              </a:lnSpc>
            </a:pPr>
            <a:r>
              <a:rPr lang="en-US" sz="1400" dirty="0" smtClean="0">
                <a:solidFill>
                  <a:schemeClr val="bg1"/>
                </a:solidFill>
              </a:rPr>
              <a:t> calculates element sizes and positions (Layout) =&gt;</a:t>
            </a:r>
          </a:p>
          <a:p>
            <a:pPr>
              <a:lnSpc>
                <a:spcPts val="1250"/>
              </a:lnSpc>
            </a:pPr>
            <a:r>
              <a:rPr lang="en-US" sz="1400" dirty="0" smtClean="0">
                <a:solidFill>
                  <a:schemeClr val="bg1"/>
                </a:solidFill>
              </a:rPr>
              <a:t> paints everything on the screen (Paint) =&gt;</a:t>
            </a:r>
          </a:p>
          <a:p>
            <a:pPr>
              <a:lnSpc>
                <a:spcPts val="1250"/>
              </a:lnSpc>
            </a:pPr>
            <a:r>
              <a:rPr lang="en-US" sz="1400" dirty="0" smtClean="0">
                <a:solidFill>
                  <a:schemeClr val="bg1"/>
                </a:solidFill>
              </a:rPr>
              <a:t> then loads and runs JavaScript which can change the page and trigger new layout or paint updates.</a:t>
            </a:r>
            <a:endParaRPr lang="en-US" sz="1400" dirty="0" smtClean="0">
              <a:solidFill>
                <a:schemeClr val="bg1"/>
              </a:solidFill>
              <a:latin typeface="Source Sans 3" pitchFamily="34" charset="0"/>
              <a:ea typeface="Source Sans 3" pitchFamily="34" charset="-122"/>
              <a:cs typeface="Source Sans 3" pitchFamily="34" charset="-120"/>
            </a:endParaRPr>
          </a:p>
          <a:p>
            <a:pPr marL="0" indent="0" algn="l">
              <a:lnSpc>
                <a:spcPts val="1250"/>
              </a:lnSpc>
              <a:buNone/>
            </a:pPr>
            <a:endParaRPr lang="en-US" sz="1400" dirty="0">
              <a:solidFill>
                <a:srgbClr val="E2E6E9"/>
              </a:solidFill>
              <a:latin typeface="Source Sans 3" pitchFamily="34" charset="0"/>
              <a:ea typeface="Source Sans 3" pitchFamily="34" charset="-122"/>
              <a:cs typeface="Source Sans 3" pitchFamily="34" charset="-120"/>
            </a:endParaRPr>
          </a:p>
          <a:p>
            <a:pPr marL="0" indent="0" algn="l">
              <a:lnSpc>
                <a:spcPts val="1250"/>
              </a:lnSpc>
              <a:buNone/>
            </a:pPr>
            <a:endParaRPr lang="en-US" sz="1400" dirty="0" smtClean="0">
              <a:solidFill>
                <a:srgbClr val="E2E6E9"/>
              </a:solidFill>
              <a:latin typeface="Source Sans 3" pitchFamily="34" charset="0"/>
              <a:ea typeface="Source Sans 3" pitchFamily="34" charset="-122"/>
              <a:cs typeface="Source Sans 3" pitchFamily="34" charset="-120"/>
            </a:endParaRPr>
          </a:p>
          <a:p>
            <a:pPr marL="0" indent="0" algn="l">
              <a:lnSpc>
                <a:spcPts val="1250"/>
              </a:lnSpc>
              <a:buNone/>
            </a:pPr>
            <a:endParaRPr lang="en-US" sz="1400" dirty="0" smtClean="0">
              <a:solidFill>
                <a:srgbClr val="E2E6E9"/>
              </a:solidFill>
              <a:latin typeface="Source Sans 3" pitchFamily="34" charset="0"/>
              <a:ea typeface="Source Sans 3" pitchFamily="34" charset="-122"/>
              <a:cs typeface="Source Sans 3" pitchFamily="34" charset="-120"/>
            </a:endParaRPr>
          </a:p>
          <a:p>
            <a:pPr marL="0" indent="0" algn="l">
              <a:lnSpc>
                <a:spcPts val="1250"/>
              </a:lnSpc>
              <a:buNone/>
            </a:pPr>
            <a:endParaRPr lang="en-US" sz="1400" dirty="0">
              <a:solidFill>
                <a:srgbClr val="E2E6E9"/>
              </a:solidFill>
              <a:latin typeface="Source Sans 3" pitchFamily="34" charset="0"/>
              <a:ea typeface="Source Sans 3" pitchFamily="34" charset="-122"/>
              <a:cs typeface="Source Sans 3" pitchFamily="34" charset="-120"/>
            </a:endParaRPr>
          </a:p>
          <a:p>
            <a:pPr marL="0" indent="0" algn="l">
              <a:lnSpc>
                <a:spcPts val="1250"/>
              </a:lnSpc>
              <a:buNone/>
            </a:pPr>
            <a:endParaRPr lang="en-US" sz="1400" dirty="0" smtClean="0">
              <a:solidFill>
                <a:srgbClr val="E2E6E9"/>
              </a:solidFill>
              <a:latin typeface="Source Sans 3" pitchFamily="34" charset="0"/>
              <a:ea typeface="Source Sans 3" pitchFamily="34" charset="-122"/>
              <a:cs typeface="Source Sans 3" pitchFamily="34" charset="-120"/>
            </a:endParaRPr>
          </a:p>
          <a:p>
            <a:pPr marL="0" indent="0" algn="l">
              <a:lnSpc>
                <a:spcPts val="1250"/>
              </a:lnSpc>
              <a:buNone/>
            </a:pPr>
            <a:endParaRPr lang="en-US" sz="1400" dirty="0"/>
          </a:p>
        </p:txBody>
      </p:sp>
      <p:pic>
        <p:nvPicPr>
          <p:cNvPr id="19" name="Image 5" descr="preencoded.png"/>
          <p:cNvPicPr>
            <a:picLocks noChangeAspect="1"/>
          </p:cNvPicPr>
          <p:nvPr/>
        </p:nvPicPr>
        <p:blipFill>
          <a:blip r:embed="rId8"/>
          <a:stretch>
            <a:fillRect/>
          </a:stretch>
        </p:blipFill>
        <p:spPr>
          <a:xfrm>
            <a:off x="7749734" y="1858566"/>
            <a:ext cx="6700481" cy="3150156"/>
          </a:xfrm>
          <a:prstGeom prst="rect">
            <a:avLst/>
          </a:prstGeom>
        </p:spPr>
      </p:pic>
      <p:sp>
        <p:nvSpPr>
          <p:cNvPr id="20" name="Text 12"/>
          <p:cNvSpPr/>
          <p:nvPr/>
        </p:nvSpPr>
        <p:spPr>
          <a:xfrm>
            <a:off x="11430246" y="1750695"/>
            <a:ext cx="2768315" cy="345986"/>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Body Children</a:t>
            </a:r>
            <a:endParaRPr lang="en-US" sz="1200" dirty="0"/>
          </a:p>
        </p:txBody>
      </p:sp>
      <p:sp>
        <p:nvSpPr>
          <p:cNvPr id="21" name="Text 13"/>
          <p:cNvSpPr/>
          <p:nvPr/>
        </p:nvSpPr>
        <p:spPr>
          <a:xfrm>
            <a:off x="10841900" y="5008722"/>
            <a:ext cx="3356661" cy="304536"/>
          </a:xfrm>
          <a:prstGeom prst="rect">
            <a:avLst/>
          </a:prstGeom>
          <a:noFill/>
          <a:ln/>
        </p:spPr>
        <p:txBody>
          <a:bodyPr wrap="non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&lt;h1&gt;, &lt;p&gt;, &lt;img&gt; elements</a:t>
            </a:r>
            <a:endParaRPr lang="en-US" sz="1050" dirty="0"/>
          </a:p>
        </p:txBody>
      </p:sp>
      <p:sp>
        <p:nvSpPr>
          <p:cNvPr id="22" name="Text 14"/>
          <p:cNvSpPr/>
          <p:nvPr/>
        </p:nvSpPr>
        <p:spPr>
          <a:xfrm>
            <a:off x="6947501" y="3663788"/>
            <a:ext cx="2768315" cy="375608"/>
          </a:xfrm>
          <a:prstGeom prst="rect">
            <a:avLst/>
          </a:prstGeom>
          <a:noFill/>
          <a:ln/>
        </p:spPr>
        <p:txBody>
          <a:bodyPr wrap="none" lIns="0" tIns="0" rIns="0" bIns="0" rtlCol="0" anchor="t"/>
          <a:lstStyle/>
          <a:p>
            <a:pPr marL="0" indent="0" algn="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Head &amp; Body</a:t>
            </a:r>
            <a:endParaRPr lang="en-US" sz="1200" dirty="0"/>
          </a:p>
        </p:txBody>
      </p:sp>
      <p:sp>
        <p:nvSpPr>
          <p:cNvPr id="23" name="Text 15"/>
          <p:cNvSpPr/>
          <p:nvPr/>
        </p:nvSpPr>
        <p:spPr>
          <a:xfrm>
            <a:off x="6788676" y="3845226"/>
            <a:ext cx="3085963" cy="304536"/>
          </a:xfrm>
          <a:prstGeom prst="rect">
            <a:avLst/>
          </a:prstGeom>
          <a:noFill/>
          <a:ln/>
        </p:spPr>
        <p:txBody>
          <a:bodyPr wrap="none" lIns="0" tIns="0" rIns="0" bIns="0" rtlCol="0" anchor="t"/>
          <a:lstStyle/>
          <a:p>
            <a:pPr marL="0" indent="0" algn="r">
              <a:lnSpc>
                <a:spcPts val="1350"/>
              </a:lnSpc>
              <a:buNone/>
            </a:pPr>
            <a:r>
              <a:rPr lang="en-US" sz="1050" dirty="0">
                <a:solidFill>
                  <a:srgbClr val="E2E6E9"/>
                </a:solidFill>
                <a:latin typeface="Source Sans 3" pitchFamily="34" charset="0"/>
                <a:ea typeface="Source Sans 3" pitchFamily="34" charset="-122"/>
                <a:cs typeface="Source Sans 3" pitchFamily="34" charset="-120"/>
              </a:rPr>
              <a:t>&lt;head&gt; and &lt;body&gt; sections</a:t>
            </a:r>
            <a:endParaRPr lang="en-US" sz="1050" dirty="0"/>
          </a:p>
        </p:txBody>
      </p:sp>
      <p:sp>
        <p:nvSpPr>
          <p:cNvPr id="24" name="Text 16"/>
          <p:cNvSpPr/>
          <p:nvPr/>
        </p:nvSpPr>
        <p:spPr>
          <a:xfrm>
            <a:off x="10516038" y="8571654"/>
            <a:ext cx="2768315" cy="345986"/>
          </a:xfrm>
          <a:prstGeom prst="rect">
            <a:avLst/>
          </a:prstGeom>
          <a:noFill/>
          <a:ln/>
        </p:spPr>
        <p:txBody>
          <a:bodyPr wrap="none" lIns="0" tIns="0" rIns="0" bIns="0" rtlCol="0" anchor="t"/>
          <a:lstStyle/>
          <a:p>
            <a:pPr marL="0" indent="0" algn="l">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HTML Root</a:t>
            </a:r>
            <a:endParaRPr lang="en-US" sz="1200" dirty="0"/>
          </a:p>
        </p:txBody>
      </p:sp>
      <p:sp>
        <p:nvSpPr>
          <p:cNvPr id="25" name="Text 17"/>
          <p:cNvSpPr/>
          <p:nvPr/>
        </p:nvSpPr>
        <p:spPr>
          <a:xfrm>
            <a:off x="10516038" y="9025920"/>
            <a:ext cx="3356661" cy="304536"/>
          </a:xfrm>
          <a:prstGeom prst="rect">
            <a:avLst/>
          </a:prstGeom>
          <a:noFill/>
          <a:ln/>
        </p:spPr>
        <p:txBody>
          <a:bodyPr wrap="none" lIns="0" tIns="0" rIns="0" bIns="0" rtlCol="0" anchor="t"/>
          <a:lstStyle/>
          <a:p>
            <a:pPr marL="0" indent="0" algn="l">
              <a:lnSpc>
                <a:spcPts val="1350"/>
              </a:lnSpc>
              <a:buNone/>
            </a:pPr>
            <a:r>
              <a:rPr lang="en-US" sz="1050" dirty="0">
                <a:solidFill>
                  <a:srgbClr val="E2E6E9"/>
                </a:solidFill>
                <a:latin typeface="Source Sans 3" pitchFamily="34" charset="0"/>
                <a:ea typeface="Source Sans 3" pitchFamily="34" charset="-122"/>
                <a:cs typeface="Source Sans 3" pitchFamily="34" charset="-120"/>
              </a:rPr>
              <a:t>Document root &lt;html&gt;</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604838"/>
            <a:ext cx="10179248" cy="613529"/>
          </a:xfrm>
          <a:prstGeom prst="rect">
            <a:avLst/>
          </a:prstGeom>
          <a:noFill/>
          <a:ln/>
        </p:spPr>
        <p:txBody>
          <a:bodyPr wrap="none" lIns="0" tIns="0" rIns="0" bIns="0" rtlCol="0" anchor="t"/>
          <a:lstStyle/>
          <a:p>
            <a:pPr marL="0" indent="0" algn="l">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Essential Tools for Frontend Developers</a:t>
            </a:r>
            <a:endParaRPr lang="en-US" sz="3850" dirty="0"/>
          </a:p>
        </p:txBody>
      </p:sp>
      <p:sp>
        <p:nvSpPr>
          <p:cNvPr id="3" name="Text 1"/>
          <p:cNvSpPr/>
          <p:nvPr/>
        </p:nvSpPr>
        <p:spPr>
          <a:xfrm>
            <a:off x="863798" y="1650206"/>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To start your journey in frontend development, you'll need a few key tools. These are industry standards that will streamline your workflow and provide a robust development environment.</a:t>
            </a:r>
            <a:endParaRPr lang="en-US" sz="17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xmlns="" r:embed="rId4"/>
              </a:ext>
            </a:extLst>
          </a:blip>
          <a:stretch>
            <a:fillRect/>
          </a:stretch>
        </p:blipFill>
        <p:spPr>
          <a:xfrm>
            <a:off x="863798" y="2541032"/>
            <a:ext cx="647819" cy="647819"/>
          </a:xfrm>
          <a:prstGeom prst="rect">
            <a:avLst/>
          </a:prstGeom>
        </p:spPr>
      </p:pic>
      <p:sp>
        <p:nvSpPr>
          <p:cNvPr id="5" name="Text 2"/>
          <p:cNvSpPr/>
          <p:nvPr/>
        </p:nvSpPr>
        <p:spPr>
          <a:xfrm>
            <a:off x="863798" y="3458766"/>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VS Code</a:t>
            </a:r>
            <a:endParaRPr lang="en-US" sz="1900" dirty="0"/>
          </a:p>
        </p:txBody>
      </p:sp>
      <p:sp>
        <p:nvSpPr>
          <p:cNvPr id="6" name="Text 3"/>
          <p:cNvSpPr/>
          <p:nvPr/>
        </p:nvSpPr>
        <p:spPr>
          <a:xfrm>
            <a:off x="863798" y="3895011"/>
            <a:ext cx="6316385" cy="971907"/>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A powerful, free, and open-source code editor from Microsoft, essential for writing HTML, CSS, and JavaScript. It comes with a vast ecosystem of extensions.</a:t>
            </a:r>
            <a:endParaRPr lang="en-US" sz="1700" dirty="0"/>
          </a:p>
        </p:txBody>
      </p:sp>
      <p:pic>
        <p:nvPicPr>
          <p:cNvPr id="7" name="Image 1" descr="preencoded.png"/>
          <p:cNvPicPr>
            <a:picLocks noChangeAspect="1"/>
          </p:cNvPicPr>
          <p:nvPr/>
        </p:nvPicPr>
        <p:blipFill>
          <a:blip r:embed="rId3">
            <a:extLst>
              <a:ext uri="{96DAC541-7B7A-43D3-8B79-37D633B846F1}">
                <asvg:svgBlip xmlns:asvg="http://schemas.microsoft.com/office/drawing/2016/SVG/main" xmlns="" r:embed="rId5"/>
              </a:ext>
            </a:extLst>
          </a:blip>
          <a:stretch>
            <a:fillRect/>
          </a:stretch>
        </p:blipFill>
        <p:spPr>
          <a:xfrm>
            <a:off x="7450098" y="2541032"/>
            <a:ext cx="647819" cy="647819"/>
          </a:xfrm>
          <a:prstGeom prst="rect">
            <a:avLst/>
          </a:prstGeom>
        </p:spPr>
      </p:pic>
      <p:sp>
        <p:nvSpPr>
          <p:cNvPr id="8" name="Text 4"/>
          <p:cNvSpPr/>
          <p:nvPr/>
        </p:nvSpPr>
        <p:spPr>
          <a:xfrm>
            <a:off x="7450098" y="3458766"/>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Browser (Chrome)</a:t>
            </a:r>
            <a:endParaRPr lang="en-US" sz="1900" dirty="0"/>
          </a:p>
        </p:txBody>
      </p:sp>
      <p:sp>
        <p:nvSpPr>
          <p:cNvPr id="9" name="Text 5"/>
          <p:cNvSpPr/>
          <p:nvPr/>
        </p:nvSpPr>
        <p:spPr>
          <a:xfrm>
            <a:off x="7450098" y="3895011"/>
            <a:ext cx="6316504" cy="971907"/>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Your primary tool for viewing and debugging web pages. Chrome's developer tools are robust and indispensable for inspecting elements and troubleshooting.</a:t>
            </a:r>
            <a:endParaRPr lang="en-US" sz="1700" dirty="0"/>
          </a:p>
        </p:txBody>
      </p:sp>
      <p:pic>
        <p:nvPicPr>
          <p:cNvPr id="10" name="Image 2" descr="preencoded.png"/>
          <p:cNvPicPr>
            <a:picLocks noChangeAspect="1"/>
          </p:cNvPicPr>
          <p:nvPr/>
        </p:nvPicPr>
        <p:blipFill>
          <a:blip r:embed="rId3">
            <a:extLst>
              <a:ext uri="{96DAC541-7B7A-43D3-8B79-37D633B846F1}">
                <asvg:svgBlip xmlns:asvg="http://schemas.microsoft.com/office/drawing/2016/SVG/main" xmlns="" r:embed="rId6"/>
              </a:ext>
            </a:extLst>
          </a:blip>
          <a:stretch>
            <a:fillRect/>
          </a:stretch>
        </p:blipFill>
        <p:spPr>
          <a:xfrm>
            <a:off x="863798" y="5298758"/>
            <a:ext cx="647819" cy="647819"/>
          </a:xfrm>
          <a:prstGeom prst="rect">
            <a:avLst/>
          </a:prstGeom>
        </p:spPr>
      </p:pic>
      <p:sp>
        <p:nvSpPr>
          <p:cNvPr id="11" name="Text 6"/>
          <p:cNvSpPr/>
          <p:nvPr/>
        </p:nvSpPr>
        <p:spPr>
          <a:xfrm>
            <a:off x="863798" y="6216491"/>
            <a:ext cx="2752487" cy="306705"/>
          </a:xfrm>
          <a:prstGeom prst="rect">
            <a:avLst/>
          </a:prstGeom>
          <a:noFill/>
          <a:ln/>
        </p:spPr>
        <p:txBody>
          <a:bodyPr wrap="none" lIns="0" tIns="0" rIns="0" bIns="0" rtlCol="0" anchor="t"/>
          <a:lstStyle/>
          <a:p>
            <a:pPr marL="0" indent="0" algn="l">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Live Server Extension</a:t>
            </a:r>
            <a:endParaRPr lang="en-US" sz="1900" dirty="0"/>
          </a:p>
        </p:txBody>
      </p:sp>
      <p:sp>
        <p:nvSpPr>
          <p:cNvPr id="12" name="Text 7"/>
          <p:cNvSpPr/>
          <p:nvPr/>
        </p:nvSpPr>
        <p:spPr>
          <a:xfrm>
            <a:off x="863798" y="6652736"/>
            <a:ext cx="6316385" cy="971907"/>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A VS Code extension that launches a local development server with live reload. This means your browser automatically refreshes whenever you save changes to your code.</a:t>
            </a:r>
            <a:endParaRPr lang="en-US" sz="1700" dirty="0"/>
          </a:p>
        </p:txBody>
      </p:sp>
      <p:pic>
        <p:nvPicPr>
          <p:cNvPr id="13" name="Image 3" descr="preencoded.png"/>
          <p:cNvPicPr>
            <a:picLocks noChangeAspect="1"/>
          </p:cNvPicPr>
          <p:nvPr/>
        </p:nvPicPr>
        <p:blipFill>
          <a:blip r:embed="rId3">
            <a:extLst>
              <a:ext uri="{96DAC541-7B7A-43D3-8B79-37D633B846F1}">
                <asvg:svgBlip xmlns:asvg="http://schemas.microsoft.com/office/drawing/2016/SVG/main" xmlns="" r:embed="rId8"/>
              </a:ext>
            </a:extLst>
          </a:blip>
          <a:stretch>
            <a:fillRect/>
          </a:stretch>
        </p:blipFill>
        <p:spPr>
          <a:xfrm>
            <a:off x="7450098" y="5298758"/>
            <a:ext cx="647819" cy="647819"/>
          </a:xfrm>
          <a:prstGeom prst="rect">
            <a:avLst/>
          </a:prstGeom>
        </p:spPr>
      </p:pic>
      <p:sp>
        <p:nvSpPr>
          <p:cNvPr id="14" name="Text 8"/>
          <p:cNvSpPr/>
          <p:nvPr/>
        </p:nvSpPr>
        <p:spPr>
          <a:xfrm>
            <a:off x="7450098" y="6216491"/>
            <a:ext cx="2862620" cy="306705"/>
          </a:xfrm>
          <a:prstGeom prst="rect">
            <a:avLst/>
          </a:prstGeom>
          <a:noFill/>
          <a:ln/>
        </p:spPr>
        <p:txBody>
          <a:bodyPr wrap="none" lIns="0" tIns="0" rIns="0" bIns="0" rtlCol="0" anchor="t"/>
          <a:lstStyle/>
          <a:p>
            <a:pPr marL="0" indent="0" algn="l">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Basic Folder Structure</a:t>
            </a:r>
            <a:endParaRPr lang="en-US" sz="1900" dirty="0"/>
          </a:p>
        </p:txBody>
      </p:sp>
      <p:sp>
        <p:nvSpPr>
          <p:cNvPr id="15" name="Text 9"/>
          <p:cNvSpPr/>
          <p:nvPr/>
        </p:nvSpPr>
        <p:spPr>
          <a:xfrm>
            <a:off x="7450098" y="6652736"/>
            <a:ext cx="6316504" cy="647938"/>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Organising your project files (HTML, CSS, JS, images) in a logical hierarchy from the start is vital for maintainability and scalability.</a:t>
            </a:r>
            <a:endParaRPr lang="en-US" sz="1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630317" y="433388"/>
            <a:ext cx="6451283" cy="447675"/>
          </a:xfrm>
          <a:prstGeom prst="rect">
            <a:avLst/>
          </a:prstGeom>
          <a:noFill/>
          <a:ln/>
        </p:spPr>
        <p:txBody>
          <a:bodyPr wrap="none" lIns="0" tIns="0" rIns="0" bIns="0" rtlCol="0" anchor="t"/>
          <a:lstStyle/>
          <a:p>
            <a:pPr marL="0" indent="0" algn="l">
              <a:lnSpc>
                <a:spcPts val="3500"/>
              </a:lnSpc>
              <a:buNone/>
            </a:pPr>
            <a:r>
              <a:rPr lang="en-US" sz="2800" b="1" dirty="0">
                <a:solidFill>
                  <a:srgbClr val="FFFFFF"/>
                </a:solidFill>
                <a:latin typeface="Montserrat Bold" pitchFamily="34" charset="0"/>
                <a:ea typeface="Montserrat Bold" pitchFamily="34" charset="-122"/>
                <a:cs typeface="Montserrat Bold" pitchFamily="34" charset="-120"/>
              </a:rPr>
              <a:t>Your First HTML File: "Hello World"</a:t>
            </a:r>
            <a:endParaRPr lang="en-US" sz="2800" dirty="0"/>
          </a:p>
        </p:txBody>
      </p:sp>
      <p:sp>
        <p:nvSpPr>
          <p:cNvPr id="3" name="Text 1"/>
          <p:cNvSpPr/>
          <p:nvPr/>
        </p:nvSpPr>
        <p:spPr>
          <a:xfrm>
            <a:off x="630317" y="1196221"/>
            <a:ext cx="13369766" cy="236458"/>
          </a:xfrm>
          <a:prstGeom prst="rect">
            <a:avLst/>
          </a:prstGeom>
          <a:noFill/>
          <a:ln/>
        </p:spPr>
        <p:txBody>
          <a:bodyPr wrap="none" lIns="0" tIns="0" rIns="0" bIns="0" rtlCol="0" anchor="t"/>
          <a:lstStyle/>
          <a:p>
            <a:pPr marL="0" indent="0" algn="l">
              <a:lnSpc>
                <a:spcPts val="1850"/>
              </a:lnSpc>
              <a:buNone/>
            </a:pPr>
            <a:r>
              <a:rPr lang="en-US" sz="1200" dirty="0">
                <a:solidFill>
                  <a:srgbClr val="E2E6E9"/>
                </a:solidFill>
                <a:latin typeface="Source Sans 3" pitchFamily="34" charset="0"/>
                <a:ea typeface="Source Sans 3" pitchFamily="34" charset="-122"/>
                <a:cs typeface="Source Sans 3" pitchFamily="34" charset="-120"/>
              </a:rPr>
              <a:t>Let's create the most basic web page, the traditional "Hello World". This will introduce you to the fundamental structure of every HTML document.</a:t>
            </a:r>
            <a:endParaRPr lang="en-US" sz="1200" dirty="0"/>
          </a:p>
        </p:txBody>
      </p:sp>
      <p:sp>
        <p:nvSpPr>
          <p:cNvPr id="4" name="Shape 2"/>
          <p:cNvSpPr/>
          <p:nvPr/>
        </p:nvSpPr>
        <p:spPr>
          <a:xfrm>
            <a:off x="630317" y="1609963"/>
            <a:ext cx="13369766" cy="3310176"/>
          </a:xfrm>
          <a:prstGeom prst="roundRect">
            <a:avLst>
              <a:gd name="adj" fmla="val 714"/>
            </a:avLst>
          </a:prstGeom>
          <a:solidFill>
            <a:srgbClr val="1E1F20"/>
          </a:solidFill>
          <a:ln/>
        </p:spPr>
      </p:sp>
      <p:sp>
        <p:nvSpPr>
          <p:cNvPr id="5" name="Shape 3"/>
          <p:cNvSpPr/>
          <p:nvPr/>
        </p:nvSpPr>
        <p:spPr>
          <a:xfrm>
            <a:off x="622459" y="1609963"/>
            <a:ext cx="13385483" cy="3310176"/>
          </a:xfrm>
          <a:prstGeom prst="roundRect">
            <a:avLst>
              <a:gd name="adj" fmla="val 714"/>
            </a:avLst>
          </a:prstGeom>
          <a:solidFill>
            <a:srgbClr val="1E1F20"/>
          </a:solidFill>
          <a:ln/>
        </p:spPr>
      </p:sp>
      <p:sp>
        <p:nvSpPr>
          <p:cNvPr id="6" name="Text 4"/>
          <p:cNvSpPr/>
          <p:nvPr/>
        </p:nvSpPr>
        <p:spPr>
          <a:xfrm>
            <a:off x="779978" y="1728073"/>
            <a:ext cx="13070443" cy="3073956"/>
          </a:xfrm>
          <a:prstGeom prst="rect">
            <a:avLst/>
          </a:prstGeom>
          <a:noFill/>
          <a:ln/>
        </p:spPr>
        <p:txBody>
          <a:bodyPr wrap="square" lIns="0" tIns="0" rIns="0" bIns="0" rtlCol="0" anchor="t"/>
          <a:lstStyle/>
          <a:p>
            <a:pPr marL="0" indent="0" algn="l">
              <a:lnSpc>
                <a:spcPts val="1850"/>
              </a:lnSpc>
              <a:buNone/>
            </a:pPr>
            <a:r>
              <a:rPr lang="en-US" sz="1200" dirty="0">
                <a:solidFill>
                  <a:srgbClr val="E2E6E9"/>
                </a:solidFill>
                <a:highlight>
                  <a:srgbClr val="1E1F20"/>
                </a:highlight>
                <a:latin typeface="Consolas" pitchFamily="34" charset="0"/>
                <a:ea typeface="Consolas" pitchFamily="34" charset="-122"/>
                <a:cs typeface="Consolas" pitchFamily="34" charset="-120"/>
              </a:rPr>
              <a:t>&lt;!DOCTYPE html</a:t>
            </a:r>
            <a:r>
              <a:rPr lang="en-US" sz="1200" dirty="0" smtClean="0">
                <a:solidFill>
                  <a:srgbClr val="E2E6E9"/>
                </a:solidFill>
                <a:highlight>
                  <a:srgbClr val="1E1F20"/>
                </a:highlight>
                <a:latin typeface="Consolas" pitchFamily="34" charset="0"/>
                <a:ea typeface="Consolas" pitchFamily="34" charset="-122"/>
                <a:cs typeface="Consolas" pitchFamily="34" charset="-120"/>
              </a:rPr>
              <a:t>&gt;</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&lt;</a:t>
            </a:r>
            <a:r>
              <a:rPr lang="en-US" sz="1200" dirty="0">
                <a:solidFill>
                  <a:srgbClr val="E2E6E9"/>
                </a:solidFill>
                <a:highlight>
                  <a:srgbClr val="1E1F20"/>
                </a:highlight>
                <a:latin typeface="Consolas" pitchFamily="34" charset="0"/>
                <a:ea typeface="Consolas" pitchFamily="34" charset="-122"/>
                <a:cs typeface="Consolas" pitchFamily="34" charset="-120"/>
              </a:rPr>
              <a:t>html lang="en</a:t>
            </a:r>
            <a:r>
              <a:rPr lang="en-US" sz="1200" dirty="0" smtClean="0">
                <a:solidFill>
                  <a:srgbClr val="E2E6E9"/>
                </a:solidFill>
                <a:highlight>
                  <a:srgbClr val="1E1F20"/>
                </a:highlight>
                <a:latin typeface="Consolas" pitchFamily="34" charset="0"/>
                <a:ea typeface="Consolas" pitchFamily="34" charset="-122"/>
                <a:cs typeface="Consolas" pitchFamily="34" charset="-120"/>
              </a:rPr>
              <a:t>"&gt;</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&lt;</a:t>
            </a:r>
            <a:r>
              <a:rPr lang="en-US" sz="1200" dirty="0">
                <a:solidFill>
                  <a:srgbClr val="E2E6E9"/>
                </a:solidFill>
                <a:highlight>
                  <a:srgbClr val="1E1F20"/>
                </a:highlight>
                <a:latin typeface="Consolas" pitchFamily="34" charset="0"/>
                <a:ea typeface="Consolas" pitchFamily="34" charset="-122"/>
                <a:cs typeface="Consolas" pitchFamily="34" charset="-120"/>
              </a:rPr>
              <a:t>head&gt; </a:t>
            </a:r>
            <a:r>
              <a:rPr lang="en-US" sz="1200" dirty="0" smtClean="0">
                <a:solidFill>
                  <a:srgbClr val="E2E6E9"/>
                </a:solidFill>
                <a:highlight>
                  <a:srgbClr val="1E1F20"/>
                </a:highlight>
                <a:latin typeface="Consolas" pitchFamily="34" charset="0"/>
                <a:ea typeface="Consolas" pitchFamily="34" charset="-122"/>
                <a:cs typeface="Consolas" pitchFamily="34" charset="-120"/>
              </a:rPr>
              <a:t> </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  </a:t>
            </a:r>
            <a:r>
              <a:rPr lang="en-US" sz="1200" dirty="0">
                <a:solidFill>
                  <a:srgbClr val="E2E6E9"/>
                </a:solidFill>
                <a:highlight>
                  <a:srgbClr val="1E1F20"/>
                </a:highlight>
                <a:latin typeface="Consolas" pitchFamily="34" charset="0"/>
                <a:ea typeface="Consolas" pitchFamily="34" charset="-122"/>
                <a:cs typeface="Consolas" pitchFamily="34" charset="-120"/>
              </a:rPr>
              <a:t>&lt;meta charset="UTF-8"&gt; </a:t>
            </a:r>
            <a:endParaRPr lang="en-US" sz="1200" dirty="0" smtClean="0">
              <a:solidFill>
                <a:srgbClr val="E2E6E9"/>
              </a:solidFill>
              <a:highlight>
                <a:srgbClr val="1E1F20"/>
              </a:highlight>
              <a:latin typeface="Consolas" pitchFamily="34" charset="0"/>
              <a:ea typeface="Consolas" pitchFamily="34" charset="-122"/>
              <a:cs typeface="Consolas" pitchFamily="34" charset="-120"/>
            </a:endParaRP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  &lt;</a:t>
            </a:r>
            <a:r>
              <a:rPr lang="en-US" sz="1200" dirty="0">
                <a:solidFill>
                  <a:srgbClr val="E2E6E9"/>
                </a:solidFill>
                <a:highlight>
                  <a:srgbClr val="1E1F20"/>
                </a:highlight>
                <a:latin typeface="Consolas" pitchFamily="34" charset="0"/>
                <a:ea typeface="Consolas" pitchFamily="34" charset="-122"/>
                <a:cs typeface="Consolas" pitchFamily="34" charset="-120"/>
              </a:rPr>
              <a:t>meta name="viewport" content="width=device-width, initial-scale=1.0</a:t>
            </a:r>
            <a:r>
              <a:rPr lang="en-US" sz="1200" dirty="0" smtClean="0">
                <a:solidFill>
                  <a:srgbClr val="E2E6E9"/>
                </a:solidFill>
                <a:highlight>
                  <a:srgbClr val="1E1F20"/>
                </a:highlight>
                <a:latin typeface="Consolas" pitchFamily="34" charset="0"/>
                <a:ea typeface="Consolas" pitchFamily="34" charset="-122"/>
                <a:cs typeface="Consolas" pitchFamily="34" charset="-120"/>
              </a:rPr>
              <a:t>"&gt;</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  </a:t>
            </a:r>
            <a:r>
              <a:rPr lang="en-US" sz="1200" dirty="0">
                <a:solidFill>
                  <a:srgbClr val="E2E6E9"/>
                </a:solidFill>
                <a:highlight>
                  <a:srgbClr val="1E1F20"/>
                </a:highlight>
                <a:latin typeface="Consolas" pitchFamily="34" charset="0"/>
                <a:ea typeface="Consolas" pitchFamily="34" charset="-122"/>
                <a:cs typeface="Consolas" pitchFamily="34" charset="-120"/>
              </a:rPr>
              <a:t>&lt;title&gt;My First Webpage&lt;/title</a:t>
            </a:r>
            <a:r>
              <a:rPr lang="en-US" sz="1200" dirty="0" smtClean="0">
                <a:solidFill>
                  <a:srgbClr val="E2E6E9"/>
                </a:solidFill>
                <a:highlight>
                  <a:srgbClr val="1E1F20"/>
                </a:highlight>
                <a:latin typeface="Consolas" pitchFamily="34" charset="0"/>
                <a:ea typeface="Consolas" pitchFamily="34" charset="-122"/>
                <a:cs typeface="Consolas" pitchFamily="34" charset="-120"/>
              </a:rPr>
              <a:t>&gt;</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&lt;/</a:t>
            </a:r>
            <a:r>
              <a:rPr lang="en-US" sz="1200" dirty="0">
                <a:solidFill>
                  <a:srgbClr val="E2E6E9"/>
                </a:solidFill>
                <a:highlight>
                  <a:srgbClr val="1E1F20"/>
                </a:highlight>
                <a:latin typeface="Consolas" pitchFamily="34" charset="0"/>
                <a:ea typeface="Consolas" pitchFamily="34" charset="-122"/>
                <a:cs typeface="Consolas" pitchFamily="34" charset="-120"/>
              </a:rPr>
              <a:t>head</a:t>
            </a:r>
            <a:r>
              <a:rPr lang="en-US" sz="1200" dirty="0" smtClean="0">
                <a:solidFill>
                  <a:srgbClr val="E2E6E9"/>
                </a:solidFill>
                <a:highlight>
                  <a:srgbClr val="1E1F20"/>
                </a:highlight>
                <a:latin typeface="Consolas" pitchFamily="34" charset="0"/>
                <a:ea typeface="Consolas" pitchFamily="34" charset="-122"/>
                <a:cs typeface="Consolas" pitchFamily="34" charset="-120"/>
              </a:rPr>
              <a:t>&gt;</a:t>
            </a:r>
          </a:p>
          <a:p>
            <a:pPr marL="0" indent="0" algn="l">
              <a:lnSpc>
                <a:spcPts val="1850"/>
              </a:lnSpc>
              <a:buNone/>
            </a:pPr>
            <a:endParaRPr lang="en-US" sz="1200" dirty="0">
              <a:solidFill>
                <a:srgbClr val="E2E6E9"/>
              </a:solidFill>
              <a:highlight>
                <a:srgbClr val="1E1F20"/>
              </a:highlight>
              <a:latin typeface="Consolas" pitchFamily="34" charset="0"/>
              <a:ea typeface="Consolas" pitchFamily="34" charset="-122"/>
              <a:cs typeface="Consolas" pitchFamily="34" charset="-120"/>
            </a:endParaRP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&lt;</a:t>
            </a:r>
            <a:r>
              <a:rPr lang="en-US" sz="1200" dirty="0">
                <a:solidFill>
                  <a:srgbClr val="E2E6E9"/>
                </a:solidFill>
                <a:highlight>
                  <a:srgbClr val="1E1F20"/>
                </a:highlight>
                <a:latin typeface="Consolas" pitchFamily="34" charset="0"/>
                <a:ea typeface="Consolas" pitchFamily="34" charset="-122"/>
                <a:cs typeface="Consolas" pitchFamily="34" charset="-120"/>
              </a:rPr>
              <a:t>body&gt; </a:t>
            </a:r>
            <a:endParaRPr lang="en-US" sz="1200" dirty="0" smtClean="0">
              <a:solidFill>
                <a:srgbClr val="E2E6E9"/>
              </a:solidFill>
              <a:highlight>
                <a:srgbClr val="1E1F20"/>
              </a:highlight>
              <a:latin typeface="Consolas" pitchFamily="34" charset="0"/>
              <a:ea typeface="Consolas" pitchFamily="34" charset="-122"/>
              <a:cs typeface="Consolas" pitchFamily="34" charset="-120"/>
            </a:endParaRP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   </a:t>
            </a:r>
            <a:r>
              <a:rPr lang="en-US" sz="1200" dirty="0">
                <a:solidFill>
                  <a:srgbClr val="E2E6E9"/>
                </a:solidFill>
                <a:highlight>
                  <a:srgbClr val="1E1F20"/>
                </a:highlight>
                <a:latin typeface="Consolas" pitchFamily="34" charset="0"/>
                <a:ea typeface="Consolas" pitchFamily="34" charset="-122"/>
                <a:cs typeface="Consolas" pitchFamily="34" charset="-120"/>
              </a:rPr>
              <a:t>&lt;h1&gt;Hello World&lt;/h1&gt; </a:t>
            </a:r>
            <a:endParaRPr lang="en-US" sz="1200" dirty="0" smtClean="0">
              <a:solidFill>
                <a:srgbClr val="E2E6E9"/>
              </a:solidFill>
              <a:highlight>
                <a:srgbClr val="1E1F20"/>
              </a:highlight>
              <a:latin typeface="Consolas" pitchFamily="34" charset="0"/>
              <a:ea typeface="Consolas" pitchFamily="34" charset="-122"/>
              <a:cs typeface="Consolas" pitchFamily="34" charset="-120"/>
            </a:endParaRP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   </a:t>
            </a:r>
            <a:r>
              <a:rPr lang="en-US" sz="1200" dirty="0">
                <a:solidFill>
                  <a:srgbClr val="E2E6E9"/>
                </a:solidFill>
                <a:highlight>
                  <a:srgbClr val="1E1F20"/>
                </a:highlight>
                <a:latin typeface="Consolas" pitchFamily="34" charset="0"/>
                <a:ea typeface="Consolas" pitchFamily="34" charset="-122"/>
                <a:cs typeface="Consolas" pitchFamily="34" charset="-120"/>
              </a:rPr>
              <a:t>&lt;p&gt;Welcome to my first HTML page</a:t>
            </a:r>
            <a:r>
              <a:rPr lang="en-US" sz="1200" dirty="0" smtClean="0">
                <a:solidFill>
                  <a:srgbClr val="E2E6E9"/>
                </a:solidFill>
                <a:highlight>
                  <a:srgbClr val="1E1F20"/>
                </a:highlight>
                <a:latin typeface="Consolas" pitchFamily="34" charset="0"/>
                <a:ea typeface="Consolas" pitchFamily="34" charset="-122"/>
                <a:cs typeface="Consolas" pitchFamily="34" charset="-120"/>
              </a:rPr>
              <a:t>!&lt;/p&gt;</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&lt;/</a:t>
            </a:r>
            <a:r>
              <a:rPr lang="en-US" sz="1200" dirty="0">
                <a:solidFill>
                  <a:srgbClr val="E2E6E9"/>
                </a:solidFill>
                <a:highlight>
                  <a:srgbClr val="1E1F20"/>
                </a:highlight>
                <a:latin typeface="Consolas" pitchFamily="34" charset="0"/>
                <a:ea typeface="Consolas" pitchFamily="34" charset="-122"/>
                <a:cs typeface="Consolas" pitchFamily="34" charset="-120"/>
              </a:rPr>
              <a:t>body</a:t>
            </a:r>
            <a:r>
              <a:rPr lang="en-US" sz="1200" dirty="0" smtClean="0">
                <a:solidFill>
                  <a:srgbClr val="E2E6E9"/>
                </a:solidFill>
                <a:highlight>
                  <a:srgbClr val="1E1F20"/>
                </a:highlight>
                <a:latin typeface="Consolas" pitchFamily="34" charset="0"/>
                <a:ea typeface="Consolas" pitchFamily="34" charset="-122"/>
                <a:cs typeface="Consolas" pitchFamily="34" charset="-120"/>
              </a:rPr>
              <a:t>&gt;</a:t>
            </a:r>
          </a:p>
          <a:p>
            <a:pPr marL="0" indent="0" algn="l">
              <a:lnSpc>
                <a:spcPts val="1850"/>
              </a:lnSpc>
              <a:buNone/>
            </a:pPr>
            <a:r>
              <a:rPr lang="en-US" sz="1200" dirty="0" smtClean="0">
                <a:solidFill>
                  <a:srgbClr val="E2E6E9"/>
                </a:solidFill>
                <a:highlight>
                  <a:srgbClr val="1E1F20"/>
                </a:highlight>
                <a:latin typeface="Consolas" pitchFamily="34" charset="0"/>
                <a:ea typeface="Consolas" pitchFamily="34" charset="-122"/>
                <a:cs typeface="Consolas" pitchFamily="34" charset="-120"/>
              </a:rPr>
              <a:t>&lt;/</a:t>
            </a:r>
            <a:r>
              <a:rPr lang="en-US" sz="1200" dirty="0">
                <a:solidFill>
                  <a:srgbClr val="E2E6E9"/>
                </a:solidFill>
                <a:highlight>
                  <a:srgbClr val="1E1F20"/>
                </a:highlight>
                <a:latin typeface="Consolas" pitchFamily="34" charset="0"/>
                <a:ea typeface="Consolas" pitchFamily="34" charset="-122"/>
                <a:cs typeface="Consolas" pitchFamily="34" charset="-120"/>
              </a:rPr>
              <a:t>html&gt;</a:t>
            </a:r>
            <a:endParaRPr lang="en-US" sz="1200" dirty="0"/>
          </a:p>
        </p:txBody>
      </p:sp>
      <p:sp>
        <p:nvSpPr>
          <p:cNvPr id="7" name="Text 5"/>
          <p:cNvSpPr/>
          <p:nvPr/>
        </p:nvSpPr>
        <p:spPr>
          <a:xfrm>
            <a:off x="630317" y="5097423"/>
            <a:ext cx="13369766" cy="236458"/>
          </a:xfrm>
          <a:prstGeom prst="rect">
            <a:avLst/>
          </a:prstGeom>
          <a:noFill/>
          <a:ln/>
        </p:spPr>
        <p:txBody>
          <a:bodyPr wrap="none" lIns="0" tIns="0" rIns="0" bIns="0" rtlCol="0" anchor="t"/>
          <a:lstStyle/>
          <a:p>
            <a:pPr marL="0" indent="0" algn="l">
              <a:lnSpc>
                <a:spcPts val="1850"/>
              </a:lnSpc>
              <a:buNone/>
            </a:pPr>
            <a:r>
              <a:rPr lang="en-US" sz="1200" dirty="0">
                <a:solidFill>
                  <a:srgbClr val="E2E6E9"/>
                </a:solidFill>
                <a:latin typeface="Source Sans 3" pitchFamily="34" charset="0"/>
                <a:ea typeface="Source Sans 3" pitchFamily="34" charset="-122"/>
                <a:cs typeface="Source Sans 3" pitchFamily="34" charset="-120"/>
              </a:rPr>
              <a:t>Here’s a breakdown of the essential components:</a:t>
            </a:r>
            <a:endParaRPr lang="en-US" sz="1200" dirty="0"/>
          </a:p>
        </p:txBody>
      </p:sp>
      <p:sp>
        <p:nvSpPr>
          <p:cNvPr id="8" name="Text 6"/>
          <p:cNvSpPr/>
          <p:nvPr/>
        </p:nvSpPr>
        <p:spPr>
          <a:xfrm>
            <a:off x="630317" y="5511165"/>
            <a:ext cx="13369766" cy="236458"/>
          </a:xfrm>
          <a:prstGeom prst="rect">
            <a:avLst/>
          </a:prstGeom>
          <a:noFill/>
          <a:ln/>
        </p:spPr>
        <p:txBody>
          <a:bodyPr wrap="none" lIns="0" tIns="0" rIns="0" bIns="0" rtlCol="0" anchor="t"/>
          <a:lstStyle/>
          <a:p>
            <a:r>
              <a:rPr lang="en-US" sz="1400" b="1" dirty="0" smtClean="0">
                <a:solidFill>
                  <a:schemeClr val="bg1"/>
                </a:solidFill>
                <a:latin typeface="Source Sans 3" pitchFamily="34" charset="0"/>
                <a:ea typeface="Source Sans 3" pitchFamily="34" charset="-122"/>
                <a:cs typeface="Source Sans 3" pitchFamily="34" charset="-120"/>
              </a:rPr>
              <a:t>         &lt;!</a:t>
            </a:r>
            <a:r>
              <a:rPr lang="en-US" sz="1400" b="1" dirty="0">
                <a:solidFill>
                  <a:schemeClr val="bg1"/>
                </a:solidFill>
                <a:latin typeface="Source Sans 3" pitchFamily="34" charset="0"/>
                <a:ea typeface="Source Sans 3" pitchFamily="34" charset="-122"/>
                <a:cs typeface="Source Sans 3" pitchFamily="34" charset="-120"/>
              </a:rPr>
              <a:t>DOCTYPE html&gt;</a:t>
            </a:r>
            <a:r>
              <a:rPr lang="en-US" sz="1400" dirty="0">
                <a:solidFill>
                  <a:schemeClr val="bg1"/>
                </a:solidFill>
                <a:latin typeface="Source Sans 3" pitchFamily="34" charset="0"/>
                <a:ea typeface="Source Sans 3" pitchFamily="34" charset="-122"/>
                <a:cs typeface="Source Sans 3" pitchFamily="34" charset="-120"/>
              </a:rPr>
              <a:t>: </a:t>
            </a:r>
            <a:r>
              <a:rPr lang="en-US" sz="1400" dirty="0" smtClean="0">
                <a:solidFill>
                  <a:schemeClr val="bg1"/>
                </a:solidFill>
              </a:rPr>
              <a:t>Tells the browser to render the page using modern HTML5 standards.</a:t>
            </a:r>
            <a:endParaRPr lang="en-US" sz="1400" dirty="0">
              <a:solidFill>
                <a:schemeClr val="bg1"/>
              </a:solidFill>
            </a:endParaRPr>
          </a:p>
        </p:txBody>
      </p:sp>
      <p:sp>
        <p:nvSpPr>
          <p:cNvPr id="9" name="Text 7"/>
          <p:cNvSpPr/>
          <p:nvPr/>
        </p:nvSpPr>
        <p:spPr>
          <a:xfrm>
            <a:off x="630317" y="5802749"/>
            <a:ext cx="13369766" cy="244078"/>
          </a:xfrm>
          <a:prstGeom prst="rect">
            <a:avLst/>
          </a:prstGeom>
          <a:noFill/>
          <a:ln/>
        </p:spPr>
        <p:txBody>
          <a:bodyPr wrap="none" lIns="0" tIns="0" rIns="0" bIns="0" rtlCol="0" anchor="t"/>
          <a:lstStyle/>
          <a:p>
            <a:pPr marL="342900" indent="-342900" algn="l">
              <a:lnSpc>
                <a:spcPts val="1850"/>
              </a:lnSpc>
              <a:buSzPct val="100000"/>
              <a:buChar char="•"/>
            </a:pPr>
            <a:r>
              <a:rPr lang="en-US" sz="1600" b="1" dirty="0">
                <a:solidFill>
                  <a:srgbClr val="E2E6E9"/>
                </a:solidFill>
                <a:latin typeface="Source Sans 3" pitchFamily="34" charset="0"/>
                <a:ea typeface="Source Sans 3" pitchFamily="34" charset="-122"/>
                <a:cs typeface="Source Sans 3" pitchFamily="34" charset="-120"/>
              </a:rPr>
              <a:t>&lt;html lang="en"&gt;</a:t>
            </a:r>
            <a:r>
              <a:rPr lang="en-US" sz="1600" dirty="0">
                <a:solidFill>
                  <a:srgbClr val="E2E6E9"/>
                </a:solidFill>
                <a:latin typeface="Source Sans 3" pitchFamily="34" charset="0"/>
                <a:ea typeface="Source Sans 3" pitchFamily="34" charset="-122"/>
                <a:cs typeface="Source Sans 3" pitchFamily="34" charset="-120"/>
              </a:rPr>
              <a:t>: The root element that encloses all other HTML elements. The </a:t>
            </a:r>
            <a:r>
              <a:rPr lang="en-US" sz="1600" dirty="0">
                <a:solidFill>
                  <a:srgbClr val="E2E6E9"/>
                </a:solidFill>
                <a:highlight>
                  <a:srgbClr val="1E1F20"/>
                </a:highlight>
                <a:latin typeface="Consolas" pitchFamily="34" charset="0"/>
                <a:ea typeface="Consolas" pitchFamily="34" charset="-122"/>
                <a:cs typeface="Consolas" pitchFamily="34" charset="-120"/>
              </a:rPr>
              <a:t>lang</a:t>
            </a:r>
            <a:r>
              <a:rPr lang="en-US" sz="1600" dirty="0">
                <a:solidFill>
                  <a:srgbClr val="E2E6E9"/>
                </a:solidFill>
                <a:latin typeface="Source Sans 3" pitchFamily="34" charset="0"/>
                <a:ea typeface="Source Sans 3" pitchFamily="34" charset="-122"/>
                <a:cs typeface="Source Sans 3" pitchFamily="34" charset="-120"/>
              </a:rPr>
              <a:t> attribute specifies the language.</a:t>
            </a:r>
            <a:endParaRPr lang="en-US" sz="1600" dirty="0"/>
          </a:p>
        </p:txBody>
      </p:sp>
      <p:sp>
        <p:nvSpPr>
          <p:cNvPr id="10" name="Text 8"/>
          <p:cNvSpPr/>
          <p:nvPr/>
        </p:nvSpPr>
        <p:spPr>
          <a:xfrm>
            <a:off x="630317" y="6101953"/>
            <a:ext cx="13369766" cy="236458"/>
          </a:xfrm>
          <a:prstGeom prst="rect">
            <a:avLst/>
          </a:prstGeom>
          <a:noFill/>
          <a:ln/>
        </p:spPr>
        <p:txBody>
          <a:bodyPr wrap="none" lIns="0" tIns="0" rIns="0" bIns="0" rtlCol="0" anchor="t"/>
          <a:lstStyle/>
          <a:p>
            <a:pPr marL="342900" indent="-342900" algn="l">
              <a:lnSpc>
                <a:spcPts val="1850"/>
              </a:lnSpc>
              <a:buSzPct val="100000"/>
              <a:buChar char="•"/>
            </a:pPr>
            <a:r>
              <a:rPr lang="en-US" sz="1600" b="1" dirty="0">
                <a:solidFill>
                  <a:srgbClr val="E2E6E9"/>
                </a:solidFill>
                <a:latin typeface="Source Sans 3" pitchFamily="34" charset="0"/>
                <a:ea typeface="Source Sans 3" pitchFamily="34" charset="-122"/>
                <a:cs typeface="Source Sans 3" pitchFamily="34" charset="-120"/>
              </a:rPr>
              <a:t>&lt;head&gt;</a:t>
            </a:r>
            <a:r>
              <a:rPr lang="en-US" sz="1600" dirty="0">
                <a:solidFill>
                  <a:srgbClr val="E2E6E9"/>
                </a:solidFill>
                <a:latin typeface="Source Sans 3" pitchFamily="34" charset="0"/>
                <a:ea typeface="Source Sans 3" pitchFamily="34" charset="-122"/>
                <a:cs typeface="Source Sans 3" pitchFamily="34" charset="-120"/>
              </a:rPr>
              <a:t>: Contains meta-information about the HTML document, not displayed on the page itself.</a:t>
            </a:r>
            <a:endParaRPr lang="en-US" sz="1600" dirty="0"/>
          </a:p>
        </p:txBody>
      </p:sp>
      <p:sp>
        <p:nvSpPr>
          <p:cNvPr id="11" name="Text 9"/>
          <p:cNvSpPr/>
          <p:nvPr/>
        </p:nvSpPr>
        <p:spPr>
          <a:xfrm>
            <a:off x="630317" y="6393537"/>
            <a:ext cx="13369766" cy="236458"/>
          </a:xfrm>
          <a:prstGeom prst="rect">
            <a:avLst/>
          </a:prstGeom>
          <a:noFill/>
          <a:ln/>
        </p:spPr>
        <p:txBody>
          <a:bodyPr wrap="none" lIns="0" tIns="0" rIns="0" bIns="0" rtlCol="0" anchor="t"/>
          <a:lstStyle/>
          <a:p>
            <a:pPr marL="342900" indent="-342900">
              <a:lnSpc>
                <a:spcPts val="1850"/>
              </a:lnSpc>
              <a:buSzPct val="100000"/>
              <a:buFontTx/>
              <a:buChar char="•"/>
            </a:pPr>
            <a:r>
              <a:rPr lang="en-US" sz="1600" b="1" dirty="0">
                <a:solidFill>
                  <a:schemeClr val="bg1"/>
                </a:solidFill>
                <a:latin typeface="Source Sans 3" pitchFamily="34" charset="0"/>
                <a:ea typeface="Source Sans 3" pitchFamily="34" charset="-122"/>
                <a:cs typeface="Source Sans 3" pitchFamily="34" charset="-120"/>
              </a:rPr>
              <a:t>&lt;meta charset="UTF-8</a:t>
            </a:r>
            <a:r>
              <a:rPr lang="en-US" sz="1600" b="1" dirty="0" smtClean="0">
                <a:solidFill>
                  <a:schemeClr val="bg1"/>
                </a:solidFill>
                <a:latin typeface="Source Sans 3" pitchFamily="34" charset="0"/>
                <a:ea typeface="Source Sans 3" pitchFamily="34" charset="-122"/>
                <a:cs typeface="Source Sans 3" pitchFamily="34" charset="-120"/>
              </a:rPr>
              <a:t>"&gt;</a:t>
            </a:r>
            <a:r>
              <a:rPr lang="en-US" sz="1600" dirty="0" smtClean="0">
                <a:solidFill>
                  <a:schemeClr val="bg1"/>
                </a:solidFill>
              </a:rPr>
              <a:t>Sets the character encoding so the page can display all languages and symbols correctly. Not ????</a:t>
            </a:r>
          </a:p>
          <a:p>
            <a:pPr marL="342900" indent="-342900" algn="l">
              <a:lnSpc>
                <a:spcPts val="1850"/>
              </a:lnSpc>
              <a:buSzPct val="100000"/>
              <a:buChar char="•"/>
            </a:pPr>
            <a:endParaRPr lang="en-US" sz="1600" dirty="0"/>
          </a:p>
        </p:txBody>
      </p:sp>
      <p:sp>
        <p:nvSpPr>
          <p:cNvPr id="13" name="Text 11"/>
          <p:cNvSpPr/>
          <p:nvPr/>
        </p:nvSpPr>
        <p:spPr>
          <a:xfrm>
            <a:off x="630317" y="6976705"/>
            <a:ext cx="13369766" cy="236458"/>
          </a:xfrm>
          <a:prstGeom prst="rect">
            <a:avLst/>
          </a:prstGeom>
          <a:noFill/>
          <a:ln/>
        </p:spPr>
        <p:txBody>
          <a:bodyPr wrap="none" lIns="0" tIns="0" rIns="0" bIns="0" rtlCol="0" anchor="t"/>
          <a:lstStyle/>
          <a:p>
            <a:pPr marL="342900" indent="-342900">
              <a:lnSpc>
                <a:spcPts val="1850"/>
              </a:lnSpc>
              <a:buSzPct val="100000"/>
              <a:buFontTx/>
              <a:buChar char="•"/>
            </a:pPr>
            <a:r>
              <a:rPr lang="en-US" sz="1600" b="1" dirty="0">
                <a:solidFill>
                  <a:schemeClr val="bg1"/>
                </a:solidFill>
                <a:latin typeface="Source Sans 3" pitchFamily="34" charset="0"/>
                <a:ea typeface="Source Sans 3" pitchFamily="34" charset="-122"/>
                <a:cs typeface="Source Sans 3" pitchFamily="34" charset="-120"/>
              </a:rPr>
              <a:t>&lt;meta name="viewport" </a:t>
            </a:r>
            <a:r>
              <a:rPr lang="en-US" sz="1600" b="1" dirty="0" smtClean="0">
                <a:solidFill>
                  <a:schemeClr val="bg1"/>
                </a:solidFill>
                <a:latin typeface="Source Sans 3" pitchFamily="34" charset="0"/>
                <a:ea typeface="Source Sans 3" pitchFamily="34" charset="-122"/>
                <a:cs typeface="Source Sans 3" pitchFamily="34" charset="-120"/>
              </a:rPr>
              <a:t>...&gt;</a:t>
            </a:r>
            <a:r>
              <a:rPr lang="en-US" sz="1600" dirty="0" smtClean="0">
                <a:solidFill>
                  <a:schemeClr val="bg1"/>
                </a:solidFill>
                <a:latin typeface="Source Sans 3" pitchFamily="34" charset="0"/>
                <a:ea typeface="Source Sans 3" pitchFamily="34" charset="-122"/>
                <a:cs typeface="Source Sans 3" pitchFamily="34" charset="-120"/>
              </a:rPr>
              <a:t>:</a:t>
            </a:r>
            <a:r>
              <a:rPr lang="en-US" sz="1600" dirty="0" smtClean="0">
                <a:solidFill>
                  <a:schemeClr val="bg1"/>
                </a:solidFill>
              </a:rPr>
              <a:t>Makes the webpage responsive by matching its width to the device screen and setting the initial zoom level.</a:t>
            </a:r>
          </a:p>
          <a:p>
            <a:pPr marL="342900" indent="-342900" algn="l">
              <a:lnSpc>
                <a:spcPts val="1850"/>
              </a:lnSpc>
              <a:buSzPct val="100000"/>
              <a:buChar char="•"/>
            </a:pPr>
            <a:r>
              <a:rPr lang="en-US" sz="1600" dirty="0" smtClean="0">
                <a:solidFill>
                  <a:srgbClr val="E2E6E9"/>
                </a:solidFill>
                <a:latin typeface="Source Sans 3" pitchFamily="34" charset="0"/>
                <a:ea typeface="Source Sans 3" pitchFamily="34" charset="-122"/>
                <a:cs typeface="Source Sans 3" pitchFamily="34" charset="-120"/>
              </a:rPr>
              <a:t>.</a:t>
            </a:r>
            <a:endParaRPr lang="en-US" sz="1600" dirty="0"/>
          </a:p>
        </p:txBody>
      </p:sp>
      <p:sp>
        <p:nvSpPr>
          <p:cNvPr id="14" name="Text 12"/>
          <p:cNvSpPr/>
          <p:nvPr/>
        </p:nvSpPr>
        <p:spPr>
          <a:xfrm>
            <a:off x="630317" y="7268289"/>
            <a:ext cx="13369766" cy="236458"/>
          </a:xfrm>
          <a:prstGeom prst="rect">
            <a:avLst/>
          </a:prstGeom>
          <a:noFill/>
          <a:ln/>
        </p:spPr>
        <p:txBody>
          <a:bodyPr wrap="none" lIns="0" tIns="0" rIns="0" bIns="0" rtlCol="0" anchor="t"/>
          <a:lstStyle/>
          <a:p>
            <a:pPr marL="342900" indent="-342900" algn="l">
              <a:lnSpc>
                <a:spcPts val="1850"/>
              </a:lnSpc>
              <a:buSzPct val="100000"/>
              <a:buChar char="•"/>
            </a:pPr>
            <a:r>
              <a:rPr lang="en-US" sz="1200" b="1" dirty="0">
                <a:solidFill>
                  <a:srgbClr val="E2E6E9"/>
                </a:solidFill>
                <a:latin typeface="Source Sans 3" pitchFamily="34" charset="0"/>
                <a:ea typeface="Source Sans 3" pitchFamily="34" charset="-122"/>
                <a:cs typeface="Source Sans 3" pitchFamily="34" charset="-120"/>
              </a:rPr>
              <a:t>&lt;title&gt;</a:t>
            </a:r>
            <a:r>
              <a:rPr lang="en-US" sz="1200" dirty="0">
                <a:solidFill>
                  <a:srgbClr val="E2E6E9"/>
                </a:solidFill>
                <a:latin typeface="Source Sans 3" pitchFamily="34" charset="0"/>
                <a:ea typeface="Source Sans 3" pitchFamily="34" charset="-122"/>
                <a:cs typeface="Source Sans 3" pitchFamily="34" charset="-120"/>
              </a:rPr>
              <a:t>: Sets the title that appears in the browser tab or window title bar.</a:t>
            </a:r>
            <a:endParaRPr lang="en-US" sz="1200" dirty="0"/>
          </a:p>
        </p:txBody>
      </p:sp>
      <p:sp>
        <p:nvSpPr>
          <p:cNvPr id="15" name="Text 13"/>
          <p:cNvSpPr/>
          <p:nvPr/>
        </p:nvSpPr>
        <p:spPr>
          <a:xfrm>
            <a:off x="630317" y="7559873"/>
            <a:ext cx="13369766" cy="236458"/>
          </a:xfrm>
          <a:prstGeom prst="rect">
            <a:avLst/>
          </a:prstGeom>
          <a:noFill/>
          <a:ln/>
        </p:spPr>
        <p:txBody>
          <a:bodyPr wrap="none" lIns="0" tIns="0" rIns="0" bIns="0" rtlCol="0" anchor="t"/>
          <a:lstStyle/>
          <a:p>
            <a:pPr marL="342900" indent="-342900" algn="l">
              <a:lnSpc>
                <a:spcPts val="1850"/>
              </a:lnSpc>
              <a:buSzPct val="100000"/>
              <a:buChar char="•"/>
            </a:pPr>
            <a:r>
              <a:rPr lang="en-US" sz="1200" b="1" dirty="0">
                <a:solidFill>
                  <a:srgbClr val="E2E6E9"/>
                </a:solidFill>
                <a:latin typeface="Source Sans 3" pitchFamily="34" charset="0"/>
                <a:ea typeface="Source Sans 3" pitchFamily="34" charset="-122"/>
                <a:cs typeface="Source Sans 3" pitchFamily="34" charset="-120"/>
              </a:rPr>
              <a:t>&lt;body&gt;</a:t>
            </a:r>
            <a:r>
              <a:rPr lang="en-US" sz="1200" dirty="0">
                <a:solidFill>
                  <a:srgbClr val="E2E6E9"/>
                </a:solidFill>
                <a:latin typeface="Source Sans 3" pitchFamily="34" charset="0"/>
                <a:ea typeface="Source Sans 3" pitchFamily="34" charset="-122"/>
                <a:cs typeface="Source Sans 3" pitchFamily="34" charset="-120"/>
              </a:rPr>
              <a:t>: Contains all the visible content of the web page.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91277" y="737354"/>
            <a:ext cx="9681686" cy="490895"/>
          </a:xfrm>
          <a:prstGeom prst="rect">
            <a:avLst/>
          </a:prstGeom>
          <a:noFill/>
          <a:ln/>
        </p:spPr>
        <p:txBody>
          <a:bodyPr wrap="none" lIns="0" tIns="0" rIns="0" bIns="0" rtlCol="0" anchor="t"/>
          <a:lstStyle/>
          <a:p>
            <a:pPr marL="0" indent="0" algn="l">
              <a:lnSpc>
                <a:spcPts val="3850"/>
              </a:lnSpc>
              <a:buNone/>
            </a:pPr>
            <a:r>
              <a:rPr lang="en-US" sz="3050" b="1" dirty="0">
                <a:solidFill>
                  <a:srgbClr val="FFFFFF"/>
                </a:solidFill>
                <a:latin typeface="Montserrat Bold" pitchFamily="34" charset="0"/>
                <a:ea typeface="Montserrat Bold" pitchFamily="34" charset="-122"/>
                <a:cs typeface="Montserrat Bold" pitchFamily="34" charset="-120"/>
              </a:rPr>
              <a:t>Structuring Content with Text &amp; Semantic Tags</a:t>
            </a:r>
            <a:endParaRPr lang="en-US" sz="3050" dirty="0"/>
          </a:p>
        </p:txBody>
      </p:sp>
      <p:sp>
        <p:nvSpPr>
          <p:cNvPr id="3" name="Text 1"/>
          <p:cNvSpPr/>
          <p:nvPr/>
        </p:nvSpPr>
        <p:spPr>
          <a:xfrm>
            <a:off x="691277" y="1573887"/>
            <a:ext cx="13247846" cy="259318"/>
          </a:xfrm>
          <a:prstGeom prst="rect">
            <a:avLst/>
          </a:prstGeom>
          <a:noFill/>
          <a:ln/>
        </p:spPr>
        <p:txBody>
          <a:bodyPr wrap="none" lIns="0" tIns="0" rIns="0" bIns="0" rtlCol="0" anchor="t"/>
          <a:lstStyle/>
          <a:p>
            <a:pPr marL="0" indent="0" algn="l">
              <a:lnSpc>
                <a:spcPts val="2000"/>
              </a:lnSpc>
              <a:buNone/>
            </a:pPr>
            <a:r>
              <a:rPr lang="en-US" sz="1350" dirty="0">
                <a:solidFill>
                  <a:srgbClr val="E2E6E9"/>
                </a:solidFill>
                <a:latin typeface="Source Sans 3" pitchFamily="34" charset="0"/>
                <a:ea typeface="Source Sans 3" pitchFamily="34" charset="-122"/>
                <a:cs typeface="Source Sans 3" pitchFamily="34" charset="-120"/>
              </a:rPr>
              <a:t>HTML provides a rich set of tags to structure and semantically define your content. Using the correct tags is crucial for accessibility, SEO, and maintainable code.</a:t>
            </a:r>
            <a:endParaRPr lang="en-US" sz="1350" dirty="0"/>
          </a:p>
        </p:txBody>
      </p:sp>
      <p:sp>
        <p:nvSpPr>
          <p:cNvPr id="4" name="Text 2"/>
          <p:cNvSpPr/>
          <p:nvPr/>
        </p:nvSpPr>
        <p:spPr>
          <a:xfrm>
            <a:off x="691277" y="2200275"/>
            <a:ext cx="3032046" cy="245388"/>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Montserrat Bold" pitchFamily="34" charset="0"/>
                <a:ea typeface="Montserrat Bold" pitchFamily="34" charset="-122"/>
                <a:cs typeface="Montserrat Bold" pitchFamily="34" charset="-120"/>
              </a:rPr>
              <a:t>Essential Text &amp; Content Tags</a:t>
            </a:r>
            <a:endParaRPr lang="en-US" sz="1500" dirty="0"/>
          </a:p>
        </p:txBody>
      </p:sp>
      <p:sp>
        <p:nvSpPr>
          <p:cNvPr id="5" name="Text 3"/>
          <p:cNvSpPr/>
          <p:nvPr/>
        </p:nvSpPr>
        <p:spPr>
          <a:xfrm>
            <a:off x="691277" y="2618423"/>
            <a:ext cx="6413182" cy="518636"/>
          </a:xfrm>
          <a:prstGeom prst="rect">
            <a:avLst/>
          </a:prstGeom>
          <a:noFill/>
          <a:ln/>
        </p:spPr>
        <p:txBody>
          <a:bodyPr wrap="squar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&lt;h1&gt;-&lt;h6&gt;</a:t>
            </a:r>
            <a:r>
              <a:rPr lang="en-US" sz="1350" dirty="0">
                <a:solidFill>
                  <a:srgbClr val="E2E6E9"/>
                </a:solidFill>
                <a:latin typeface="Source Sans 3" pitchFamily="34" charset="0"/>
                <a:ea typeface="Source Sans 3" pitchFamily="34" charset="-122"/>
                <a:cs typeface="Source Sans 3" pitchFamily="34" charset="-120"/>
              </a:rPr>
              <a:t>: Headings, from most important (h1) to least (h6). Use them hierarchically.</a:t>
            </a:r>
            <a:endParaRPr lang="en-US" sz="1350" dirty="0"/>
          </a:p>
        </p:txBody>
      </p:sp>
      <p:sp>
        <p:nvSpPr>
          <p:cNvPr id="6" name="Text 4"/>
          <p:cNvSpPr/>
          <p:nvPr/>
        </p:nvSpPr>
        <p:spPr>
          <a:xfrm>
            <a:off x="691277" y="3197542"/>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&lt;p&gt;</a:t>
            </a:r>
            <a:r>
              <a:rPr lang="en-US" sz="1350" dirty="0">
                <a:solidFill>
                  <a:srgbClr val="E2E6E9"/>
                </a:solidFill>
                <a:latin typeface="Source Sans 3" pitchFamily="34" charset="0"/>
                <a:ea typeface="Source Sans 3" pitchFamily="34" charset="-122"/>
                <a:cs typeface="Source Sans 3" pitchFamily="34" charset="-120"/>
              </a:rPr>
              <a:t>: Paragraphs, for blocks of text.</a:t>
            </a:r>
            <a:endParaRPr lang="en-US" sz="1350" dirty="0"/>
          </a:p>
        </p:txBody>
      </p:sp>
      <p:sp>
        <p:nvSpPr>
          <p:cNvPr id="7" name="Text 5"/>
          <p:cNvSpPr/>
          <p:nvPr/>
        </p:nvSpPr>
        <p:spPr>
          <a:xfrm>
            <a:off x="691277" y="3517344"/>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&lt;br&gt;</a:t>
            </a:r>
            <a:r>
              <a:rPr lang="en-US" sz="1350" dirty="0">
                <a:solidFill>
                  <a:srgbClr val="E2E6E9"/>
                </a:solidFill>
                <a:latin typeface="Source Sans 3" pitchFamily="34" charset="0"/>
                <a:ea typeface="Source Sans 3" pitchFamily="34" charset="-122"/>
                <a:cs typeface="Source Sans 3" pitchFamily="34" charset="-120"/>
              </a:rPr>
              <a:t>: Line break, for forcing a new line.</a:t>
            </a:r>
            <a:endParaRPr lang="en-US" sz="1350" dirty="0"/>
          </a:p>
        </p:txBody>
      </p:sp>
      <p:sp>
        <p:nvSpPr>
          <p:cNvPr id="8" name="Text 6"/>
          <p:cNvSpPr/>
          <p:nvPr/>
        </p:nvSpPr>
        <p:spPr>
          <a:xfrm>
            <a:off x="691277" y="3837146"/>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&lt;hr&gt;</a:t>
            </a:r>
            <a:r>
              <a:rPr lang="en-US" sz="1350" dirty="0">
                <a:solidFill>
                  <a:srgbClr val="E2E6E9"/>
                </a:solidFill>
                <a:latin typeface="Source Sans 3" pitchFamily="34" charset="0"/>
                <a:ea typeface="Source Sans 3" pitchFamily="34" charset="-122"/>
                <a:cs typeface="Source Sans 3" pitchFamily="34" charset="-120"/>
              </a:rPr>
              <a:t>: Horizontal rule, creates a thematic break or separator.</a:t>
            </a:r>
            <a:endParaRPr lang="en-US" sz="1350" dirty="0"/>
          </a:p>
        </p:txBody>
      </p:sp>
      <p:sp>
        <p:nvSpPr>
          <p:cNvPr id="9" name="Text 7"/>
          <p:cNvSpPr/>
          <p:nvPr/>
        </p:nvSpPr>
        <p:spPr>
          <a:xfrm>
            <a:off x="691277" y="4156948"/>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&lt;span&gt;</a:t>
            </a:r>
            <a:r>
              <a:rPr lang="en-US" sz="1350" dirty="0">
                <a:solidFill>
                  <a:srgbClr val="E2E6E9"/>
                </a:solidFill>
                <a:latin typeface="Source Sans 3" pitchFamily="34" charset="0"/>
                <a:ea typeface="Source Sans 3" pitchFamily="34" charset="-122"/>
                <a:cs typeface="Source Sans 3" pitchFamily="34" charset="-120"/>
              </a:rPr>
              <a:t>: An inline container for phrasing content, used for styling small parts of text.</a:t>
            </a:r>
            <a:endParaRPr lang="en-US" sz="1350" dirty="0"/>
          </a:p>
        </p:txBody>
      </p:sp>
      <p:sp>
        <p:nvSpPr>
          <p:cNvPr id="10" name="Text 8"/>
          <p:cNvSpPr/>
          <p:nvPr/>
        </p:nvSpPr>
        <p:spPr>
          <a:xfrm>
            <a:off x="691277" y="4476750"/>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&lt;div&gt;</a:t>
            </a:r>
            <a:r>
              <a:rPr lang="en-US" sz="1350" dirty="0">
                <a:solidFill>
                  <a:srgbClr val="E2E6E9"/>
                </a:solidFill>
                <a:latin typeface="Source Sans 3" pitchFamily="34" charset="0"/>
                <a:ea typeface="Source Sans 3" pitchFamily="34" charset="-122"/>
                <a:cs typeface="Source Sans 3" pitchFamily="34" charset="-120"/>
              </a:rPr>
              <a:t>: A block-level container, typically used for grouping larger sections of content.</a:t>
            </a:r>
            <a:endParaRPr lang="en-US" sz="1350" dirty="0"/>
          </a:p>
        </p:txBody>
      </p:sp>
      <p:sp>
        <p:nvSpPr>
          <p:cNvPr id="11" name="Text 9"/>
          <p:cNvSpPr/>
          <p:nvPr/>
        </p:nvSpPr>
        <p:spPr>
          <a:xfrm>
            <a:off x="691277" y="4796552"/>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&lt;strong&gt;</a:t>
            </a:r>
            <a:r>
              <a:rPr lang="en-US" sz="1350" dirty="0">
                <a:solidFill>
                  <a:srgbClr val="E2E6E9"/>
                </a:solidFill>
                <a:latin typeface="Source Sans 3" pitchFamily="34" charset="0"/>
                <a:ea typeface="Source Sans 3" pitchFamily="34" charset="-122"/>
                <a:cs typeface="Source Sans 3" pitchFamily="34" charset="-120"/>
              </a:rPr>
              <a:t>: Indicates strong importance, usually renders as bold.</a:t>
            </a:r>
            <a:endParaRPr lang="en-US" sz="1350" dirty="0"/>
          </a:p>
        </p:txBody>
      </p:sp>
      <p:sp>
        <p:nvSpPr>
          <p:cNvPr id="12" name="Text 10"/>
          <p:cNvSpPr/>
          <p:nvPr/>
        </p:nvSpPr>
        <p:spPr>
          <a:xfrm>
            <a:off x="691277" y="5116354"/>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&lt;em&gt;</a:t>
            </a:r>
            <a:r>
              <a:rPr lang="en-US" sz="1350" dirty="0">
                <a:solidFill>
                  <a:srgbClr val="E2E6E9"/>
                </a:solidFill>
                <a:latin typeface="Source Sans 3" pitchFamily="34" charset="0"/>
                <a:ea typeface="Source Sans 3" pitchFamily="34" charset="-122"/>
                <a:cs typeface="Source Sans 3" pitchFamily="34" charset="-120"/>
              </a:rPr>
              <a:t>: Indicates emphasis, usually renders as italic.</a:t>
            </a:r>
            <a:endParaRPr lang="en-US" sz="1350" dirty="0"/>
          </a:p>
        </p:txBody>
      </p:sp>
      <p:sp>
        <p:nvSpPr>
          <p:cNvPr id="13" name="Text 11"/>
          <p:cNvSpPr/>
          <p:nvPr/>
        </p:nvSpPr>
        <p:spPr>
          <a:xfrm>
            <a:off x="691277" y="5436156"/>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&lt;mark&gt;</a:t>
            </a:r>
            <a:r>
              <a:rPr lang="en-US" sz="1350" dirty="0">
                <a:solidFill>
                  <a:srgbClr val="E2E6E9"/>
                </a:solidFill>
                <a:latin typeface="Source Sans 3" pitchFamily="34" charset="0"/>
                <a:ea typeface="Source Sans 3" pitchFamily="34" charset="-122"/>
                <a:cs typeface="Source Sans 3" pitchFamily="34" charset="-120"/>
              </a:rPr>
              <a:t>: Highlights text, marking it as relevant or important.</a:t>
            </a:r>
            <a:endParaRPr lang="en-US" sz="1350" dirty="0"/>
          </a:p>
        </p:txBody>
      </p:sp>
      <p:sp>
        <p:nvSpPr>
          <p:cNvPr id="14" name="Text 12"/>
          <p:cNvSpPr/>
          <p:nvPr/>
        </p:nvSpPr>
        <p:spPr>
          <a:xfrm>
            <a:off x="691277" y="5755958"/>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&lt;small&gt;</a:t>
            </a:r>
            <a:r>
              <a:rPr lang="en-US" sz="1350" dirty="0">
                <a:solidFill>
                  <a:srgbClr val="E2E6E9"/>
                </a:solidFill>
                <a:latin typeface="Source Sans 3" pitchFamily="34" charset="0"/>
                <a:ea typeface="Source Sans 3" pitchFamily="34" charset="-122"/>
                <a:cs typeface="Source Sans 3" pitchFamily="34" charset="-120"/>
              </a:rPr>
              <a:t>: Represents side comments, fine print, or copyright text.</a:t>
            </a:r>
            <a:endParaRPr lang="en-US" sz="1350" dirty="0"/>
          </a:p>
        </p:txBody>
      </p:sp>
      <p:sp>
        <p:nvSpPr>
          <p:cNvPr id="15" name="Text 13"/>
          <p:cNvSpPr/>
          <p:nvPr/>
        </p:nvSpPr>
        <p:spPr>
          <a:xfrm>
            <a:off x="691277" y="6075759"/>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&lt;sub&gt;</a:t>
            </a:r>
            <a:r>
              <a:rPr lang="en-US" sz="1350" dirty="0">
                <a:solidFill>
                  <a:srgbClr val="E2E6E9"/>
                </a:solidFill>
                <a:latin typeface="Source Sans 3" pitchFamily="34" charset="0"/>
                <a:ea typeface="Source Sans 3" pitchFamily="34" charset="-122"/>
                <a:cs typeface="Source Sans 3" pitchFamily="34" charset="-120"/>
              </a:rPr>
              <a:t>: Subscript text (e.g., H2O).</a:t>
            </a:r>
            <a:endParaRPr lang="en-US" sz="1350" dirty="0"/>
          </a:p>
        </p:txBody>
      </p:sp>
      <p:sp>
        <p:nvSpPr>
          <p:cNvPr id="16" name="Text 14"/>
          <p:cNvSpPr/>
          <p:nvPr/>
        </p:nvSpPr>
        <p:spPr>
          <a:xfrm>
            <a:off x="691277" y="6395561"/>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b="1" dirty="0">
                <a:solidFill>
                  <a:srgbClr val="E2E6E9"/>
                </a:solidFill>
                <a:latin typeface="Source Sans 3" pitchFamily="34" charset="0"/>
                <a:ea typeface="Source Sans 3" pitchFamily="34" charset="-122"/>
                <a:cs typeface="Source Sans 3" pitchFamily="34" charset="-120"/>
              </a:rPr>
              <a:t>&lt;sup&gt;</a:t>
            </a:r>
            <a:r>
              <a:rPr lang="en-US" sz="1350" dirty="0">
                <a:solidFill>
                  <a:srgbClr val="E2E6E9"/>
                </a:solidFill>
                <a:latin typeface="Source Sans 3" pitchFamily="34" charset="0"/>
                <a:ea typeface="Source Sans 3" pitchFamily="34" charset="-122"/>
                <a:cs typeface="Source Sans 3" pitchFamily="34" charset="-120"/>
              </a:rPr>
              <a:t>: Superscript text (e.g., E=mc2).</a:t>
            </a:r>
            <a:endParaRPr lang="en-US" sz="1350" dirty="0"/>
          </a:p>
        </p:txBody>
      </p:sp>
      <p:sp>
        <p:nvSpPr>
          <p:cNvPr id="17" name="Text 15"/>
          <p:cNvSpPr/>
          <p:nvPr/>
        </p:nvSpPr>
        <p:spPr>
          <a:xfrm>
            <a:off x="691277" y="6810375"/>
            <a:ext cx="6413182" cy="526256"/>
          </a:xfrm>
          <a:prstGeom prst="rect">
            <a:avLst/>
          </a:prstGeom>
          <a:noFill/>
          <a:ln/>
        </p:spPr>
        <p:txBody>
          <a:bodyPr wrap="square" lIns="0" tIns="0" rIns="0" bIns="0" rtlCol="0" anchor="t"/>
          <a:lstStyle/>
          <a:p>
            <a:pPr marL="0" indent="0" algn="l">
              <a:lnSpc>
                <a:spcPts val="2000"/>
              </a:lnSpc>
              <a:buNone/>
            </a:pPr>
            <a:r>
              <a:rPr lang="en-US" sz="1350" dirty="0">
                <a:solidFill>
                  <a:srgbClr val="E2E6E9"/>
                </a:solidFill>
                <a:latin typeface="Source Sans 3" pitchFamily="34" charset="0"/>
                <a:ea typeface="Source Sans 3" pitchFamily="34" charset="-122"/>
                <a:cs typeface="Source Sans 3" pitchFamily="34" charset="-120"/>
              </a:rPr>
              <a:t>HTML Comments: </a:t>
            </a:r>
            <a:r>
              <a:rPr lang="en-US" sz="1350" dirty="0">
                <a:solidFill>
                  <a:srgbClr val="E2E6E9"/>
                </a:solidFill>
                <a:highlight>
                  <a:srgbClr val="1E1F20"/>
                </a:highlight>
                <a:latin typeface="Consolas" pitchFamily="34" charset="0"/>
                <a:ea typeface="Consolas" pitchFamily="34" charset="-122"/>
                <a:cs typeface="Consolas" pitchFamily="34" charset="-120"/>
              </a:rPr>
              <a:t>&lt;!-- This is a comment --&gt;</a:t>
            </a:r>
            <a:r>
              <a:rPr lang="en-US" sz="1350" dirty="0">
                <a:solidFill>
                  <a:srgbClr val="E2E6E9"/>
                </a:solidFill>
                <a:latin typeface="Source Sans 3" pitchFamily="34" charset="0"/>
                <a:ea typeface="Source Sans 3" pitchFamily="34" charset="-122"/>
                <a:cs typeface="Source Sans 3" pitchFamily="34" charset="-120"/>
              </a:rPr>
              <a:t>. Comments are ignored by the browser and are used for notes in your code.</a:t>
            </a:r>
            <a:endParaRPr lang="en-US" sz="1350" dirty="0"/>
          </a:p>
        </p:txBody>
      </p:sp>
      <p:sp>
        <p:nvSpPr>
          <p:cNvPr id="18" name="Text 16"/>
          <p:cNvSpPr/>
          <p:nvPr/>
        </p:nvSpPr>
        <p:spPr>
          <a:xfrm>
            <a:off x="7533561" y="2200275"/>
            <a:ext cx="2279690" cy="245388"/>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Montserrat Bold" pitchFamily="34" charset="0"/>
                <a:ea typeface="Montserrat Bold" pitchFamily="34" charset="-122"/>
                <a:cs typeface="Montserrat Bold" pitchFamily="34" charset="-120"/>
              </a:rPr>
              <a:t>Examples of Text Tags</a:t>
            </a:r>
            <a:endParaRPr lang="en-US" sz="1500" dirty="0"/>
          </a:p>
        </p:txBody>
      </p:sp>
      <p:sp>
        <p:nvSpPr>
          <p:cNvPr id="19" name="Shape 17"/>
          <p:cNvSpPr/>
          <p:nvPr/>
        </p:nvSpPr>
        <p:spPr>
          <a:xfrm>
            <a:off x="7533561" y="2639973"/>
            <a:ext cx="6413182" cy="2592943"/>
          </a:xfrm>
          <a:prstGeom prst="roundRect">
            <a:avLst>
              <a:gd name="adj" fmla="val 1000"/>
            </a:avLst>
          </a:prstGeom>
          <a:solidFill>
            <a:srgbClr val="1E1F20"/>
          </a:solidFill>
          <a:ln/>
        </p:spPr>
      </p:sp>
      <p:sp>
        <p:nvSpPr>
          <p:cNvPr id="20" name="Shape 18"/>
          <p:cNvSpPr/>
          <p:nvPr/>
        </p:nvSpPr>
        <p:spPr>
          <a:xfrm>
            <a:off x="7524988" y="2639973"/>
            <a:ext cx="6430328" cy="2592943"/>
          </a:xfrm>
          <a:prstGeom prst="roundRect">
            <a:avLst>
              <a:gd name="adj" fmla="val 1000"/>
            </a:avLst>
          </a:prstGeom>
          <a:solidFill>
            <a:srgbClr val="1E1F20"/>
          </a:solidFill>
          <a:ln/>
        </p:spPr>
      </p:sp>
      <p:sp>
        <p:nvSpPr>
          <p:cNvPr id="21" name="Text 19"/>
          <p:cNvSpPr/>
          <p:nvPr/>
        </p:nvSpPr>
        <p:spPr>
          <a:xfrm>
            <a:off x="7697748" y="2769513"/>
            <a:ext cx="6084808" cy="2333863"/>
          </a:xfrm>
          <a:prstGeom prst="rect">
            <a:avLst/>
          </a:prstGeom>
          <a:noFill/>
          <a:ln/>
        </p:spPr>
        <p:txBody>
          <a:bodyPr wrap="square" lIns="0" tIns="0" rIns="0" bIns="0" rtlCol="0" anchor="t"/>
          <a:lstStyle/>
          <a:p>
            <a:pPr marL="0" indent="0" algn="l">
              <a:lnSpc>
                <a:spcPts val="2000"/>
              </a:lnSpc>
              <a:buNone/>
            </a:pPr>
            <a:r>
              <a:rPr lang="en-US" sz="1350" dirty="0">
                <a:solidFill>
                  <a:srgbClr val="E2E6E9"/>
                </a:solidFill>
                <a:highlight>
                  <a:srgbClr val="1E1F20"/>
                </a:highlight>
                <a:latin typeface="Consolas" pitchFamily="34" charset="0"/>
                <a:ea typeface="Consolas" pitchFamily="34" charset="-122"/>
                <a:cs typeface="Consolas" pitchFamily="34" charset="-120"/>
              </a:rPr>
              <a:t>&lt;h1&gt;Welcome to My Page&lt;/h1&gt;&lt;hr&gt;&lt;p&gt;This is a normal paragraph with &lt;strong&gt;important text&lt;/strong&gt; and &lt;em&gt;emphasised words&lt;/em&gt;.&lt;/p&gt;&lt;p&gt;Here is some &lt;mark&gt;highlighted text&lt;/mark&gt;.&lt;/p&gt;&lt;p&gt;This is a new line.&lt;br&gt;And another one.&lt;/p&gt;&lt;p&gt;H&lt;sub&gt;2&lt;/sub&gt;O is water and E=mc&lt;sup&gt;2&lt;/sup&gt; is energy.&lt;/p&gt;&lt;!-- This is a hidden comment --&gt;</a:t>
            </a:r>
            <a:endParaRPr lang="en-US" sz="1350" dirty="0"/>
          </a:p>
        </p:txBody>
      </p:sp>
      <p:sp>
        <p:nvSpPr>
          <p:cNvPr id="22" name="Text 20"/>
          <p:cNvSpPr/>
          <p:nvPr/>
        </p:nvSpPr>
        <p:spPr>
          <a:xfrm>
            <a:off x="7533561" y="5427226"/>
            <a:ext cx="1963817" cy="245388"/>
          </a:xfrm>
          <a:prstGeom prst="rect">
            <a:avLst/>
          </a:prstGeom>
          <a:noFill/>
          <a:ln/>
        </p:spPr>
        <p:txBody>
          <a:bodyPr wrap="none" lIns="0" tIns="0" rIns="0" bIns="0" rtlCol="0" anchor="t"/>
          <a:lstStyle/>
          <a:p>
            <a:pPr marL="0" indent="0" algn="l">
              <a:lnSpc>
                <a:spcPts val="1900"/>
              </a:lnSpc>
              <a:buNone/>
            </a:pPr>
            <a:r>
              <a:rPr lang="en-US" sz="1500" b="1" dirty="0">
                <a:solidFill>
                  <a:srgbClr val="FFFFFF"/>
                </a:solidFill>
                <a:latin typeface="Montserrat Bold" pitchFamily="34" charset="0"/>
                <a:ea typeface="Montserrat Bold" pitchFamily="34" charset="-122"/>
                <a:cs typeface="Montserrat Bold" pitchFamily="34" charset="-120"/>
              </a:rPr>
              <a:t>Your Task:</a:t>
            </a:r>
            <a:endParaRPr lang="en-US" sz="1500" dirty="0"/>
          </a:p>
        </p:txBody>
      </p:sp>
      <p:sp>
        <p:nvSpPr>
          <p:cNvPr id="23" name="Text 21"/>
          <p:cNvSpPr/>
          <p:nvPr/>
        </p:nvSpPr>
        <p:spPr>
          <a:xfrm>
            <a:off x="7533561" y="5845373"/>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Create a title and a paragraph.</a:t>
            </a:r>
            <a:endParaRPr lang="en-US" sz="1350" dirty="0"/>
          </a:p>
        </p:txBody>
      </p:sp>
      <p:sp>
        <p:nvSpPr>
          <p:cNvPr id="24" name="Text 22"/>
          <p:cNvSpPr/>
          <p:nvPr/>
        </p:nvSpPr>
        <p:spPr>
          <a:xfrm>
            <a:off x="7533561" y="6165175"/>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Place a horizontal line directly under your title.</a:t>
            </a:r>
            <a:endParaRPr lang="en-US" sz="1350" dirty="0"/>
          </a:p>
        </p:txBody>
      </p:sp>
      <p:sp>
        <p:nvSpPr>
          <p:cNvPr id="25" name="Text 23"/>
          <p:cNvSpPr/>
          <p:nvPr/>
        </p:nvSpPr>
        <p:spPr>
          <a:xfrm>
            <a:off x="7533561" y="6484977"/>
            <a:ext cx="6413182" cy="259318"/>
          </a:xfrm>
          <a:prstGeom prst="rect">
            <a:avLst/>
          </a:prstGeom>
          <a:noFill/>
          <a:ln/>
        </p:spPr>
        <p:txBody>
          <a:bodyPr wrap="none" lIns="0" tIns="0" rIns="0" bIns="0" rtlCol="0" anchor="t"/>
          <a:lstStyle/>
          <a:p>
            <a:pPr marL="342900" indent="-342900" algn="l">
              <a:lnSpc>
                <a:spcPts val="2000"/>
              </a:lnSpc>
              <a:buSzPct val="100000"/>
              <a:buChar char="•"/>
            </a:pPr>
            <a:r>
              <a:rPr lang="en-US" sz="1350" dirty="0">
                <a:solidFill>
                  <a:srgbClr val="E2E6E9"/>
                </a:solidFill>
                <a:latin typeface="Source Sans 3" pitchFamily="34" charset="0"/>
                <a:ea typeface="Source Sans 3" pitchFamily="34" charset="-122"/>
                <a:cs typeface="Source Sans 3" pitchFamily="34" charset="-120"/>
              </a:rPr>
              <a:t>Add some </a:t>
            </a:r>
            <a:r>
              <a:rPr lang="en-US" sz="1350" dirty="0">
                <a:solidFill>
                  <a:srgbClr val="000000"/>
                </a:solidFill>
                <a:highlight>
                  <a:srgbClr val="FFFF00"/>
                </a:highlight>
                <a:latin typeface="Source Sans 3" pitchFamily="34" charset="0"/>
                <a:ea typeface="Source Sans 3" pitchFamily="34" charset="-122"/>
                <a:cs typeface="Source Sans 3" pitchFamily="34" charset="-120"/>
              </a:rPr>
              <a:t>marked text</a:t>
            </a:r>
            <a:r>
              <a:rPr lang="en-US" sz="1350" dirty="0">
                <a:solidFill>
                  <a:srgbClr val="E2E6E9"/>
                </a:solidFill>
                <a:latin typeface="Source Sans 3" pitchFamily="34" charset="0"/>
                <a:ea typeface="Source Sans 3" pitchFamily="34" charset="-122"/>
                <a:cs typeface="Source Sans 3" pitchFamily="34" charset="-120"/>
              </a:rPr>
              <a:t> within your paragraph.</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63798" y="1209675"/>
            <a:ext cx="12902803" cy="1227058"/>
          </a:xfrm>
          <a:prstGeom prst="rect">
            <a:avLst/>
          </a:prstGeom>
          <a:noFill/>
          <a:ln/>
        </p:spPr>
        <p:txBody>
          <a:bodyPr wrap="square" lIns="0" tIns="0" rIns="0" bIns="0" rtlCol="0" anchor="t"/>
          <a:lstStyle/>
          <a:p>
            <a:pPr marL="0" indent="0" algn="l">
              <a:lnSpc>
                <a:spcPts val="4800"/>
              </a:lnSpc>
              <a:buNone/>
            </a:pPr>
            <a:r>
              <a:rPr lang="en-US" sz="3850" b="1" dirty="0">
                <a:solidFill>
                  <a:srgbClr val="FFFFFF"/>
                </a:solidFill>
                <a:latin typeface="Montserrat Bold" pitchFamily="34" charset="0"/>
                <a:ea typeface="Montserrat Bold" pitchFamily="34" charset="-122"/>
                <a:cs typeface="Montserrat Bold" pitchFamily="34" charset="-120"/>
              </a:rPr>
              <a:t>Block vs. Inline Elements: Understanding Layout Flow</a:t>
            </a:r>
            <a:endParaRPr lang="en-US" sz="3850" dirty="0"/>
          </a:p>
        </p:txBody>
      </p:sp>
      <p:sp>
        <p:nvSpPr>
          <p:cNvPr id="3" name="Text 1"/>
          <p:cNvSpPr/>
          <p:nvPr/>
        </p:nvSpPr>
        <p:spPr>
          <a:xfrm>
            <a:off x="863798" y="2868573"/>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HTML elements behave differently in how they occupy space and interact with other elements. Understanding the distinction between block and inline elements is fundamental to controlling your page layout.</a:t>
            </a:r>
            <a:endParaRPr lang="en-US" sz="1700" dirty="0"/>
          </a:p>
        </p:txBody>
      </p:sp>
      <p:sp>
        <p:nvSpPr>
          <p:cNvPr id="4" name="Shape 2"/>
          <p:cNvSpPr/>
          <p:nvPr/>
        </p:nvSpPr>
        <p:spPr>
          <a:xfrm>
            <a:off x="863798" y="3759398"/>
            <a:ext cx="6343412" cy="2369582"/>
          </a:xfrm>
          <a:prstGeom prst="roundRect">
            <a:avLst>
              <a:gd name="adj" fmla="val 6174"/>
            </a:avLst>
          </a:prstGeom>
          <a:solidFill>
            <a:srgbClr val="111213"/>
          </a:solidFill>
          <a:ln w="30480">
            <a:solidFill>
              <a:srgbClr val="494A4B"/>
            </a:solidFill>
            <a:prstDash val="solid"/>
          </a:ln>
        </p:spPr>
      </p:sp>
      <p:sp>
        <p:nvSpPr>
          <p:cNvPr id="5" name="Shape 3"/>
          <p:cNvSpPr/>
          <p:nvPr/>
        </p:nvSpPr>
        <p:spPr>
          <a:xfrm>
            <a:off x="833318" y="3759398"/>
            <a:ext cx="121920" cy="2369582"/>
          </a:xfrm>
          <a:prstGeom prst="roundRect">
            <a:avLst>
              <a:gd name="adj" fmla="val 26572"/>
            </a:avLst>
          </a:prstGeom>
          <a:solidFill>
            <a:srgbClr val="FFFFFF"/>
          </a:solidFill>
          <a:ln/>
        </p:spPr>
      </p:sp>
      <p:sp>
        <p:nvSpPr>
          <p:cNvPr id="6" name="Text 4"/>
          <p:cNvSpPr/>
          <p:nvPr/>
        </p:nvSpPr>
        <p:spPr>
          <a:xfrm>
            <a:off x="1201579" y="4005739"/>
            <a:ext cx="2768203" cy="306705"/>
          </a:xfrm>
          <a:prstGeom prst="rect">
            <a:avLst/>
          </a:prstGeom>
          <a:noFill/>
          <a:ln/>
        </p:spPr>
        <p:txBody>
          <a:bodyPr wrap="none" lIns="0" tIns="0" rIns="0" bIns="0" rtlCol="0" anchor="t"/>
          <a:lstStyle/>
          <a:p>
            <a:pPr marL="0" indent="0" algn="l">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Block-Level Elements</a:t>
            </a:r>
            <a:endParaRPr lang="en-US" sz="1900" dirty="0"/>
          </a:p>
        </p:txBody>
      </p:sp>
      <p:sp>
        <p:nvSpPr>
          <p:cNvPr id="7" name="Text 5"/>
          <p:cNvSpPr/>
          <p:nvPr/>
        </p:nvSpPr>
        <p:spPr>
          <a:xfrm>
            <a:off x="1201579" y="4441984"/>
            <a:ext cx="5759291" cy="971907"/>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Block elements always start on a new line and take up the full available width. They are typically used for larger structural pieces of content.</a:t>
            </a:r>
            <a:endParaRPr lang="en-US" sz="1700" dirty="0"/>
          </a:p>
        </p:txBody>
      </p:sp>
      <p:sp>
        <p:nvSpPr>
          <p:cNvPr id="8" name="Text 6"/>
          <p:cNvSpPr/>
          <p:nvPr/>
        </p:nvSpPr>
        <p:spPr>
          <a:xfrm>
            <a:off x="1201579" y="5543431"/>
            <a:ext cx="5759291" cy="339209"/>
          </a:xfrm>
          <a:prstGeom prst="rect">
            <a:avLst/>
          </a:prstGeom>
          <a:noFill/>
          <a:ln/>
        </p:spPr>
        <p:txBody>
          <a:bodyPr wrap="none" lIns="0" tIns="0" rIns="0" bIns="0" rtlCol="0" anchor="t"/>
          <a:lstStyle/>
          <a:p>
            <a:pPr marL="0" indent="0" algn="l">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Examples:</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&lt;div&gt;</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&lt;p</a:t>
            </a:r>
            <a:r>
              <a:rPr lang="en-US" sz="1700" dirty="0" smtClean="0">
                <a:solidFill>
                  <a:srgbClr val="E2E6E9"/>
                </a:solidFill>
                <a:highlight>
                  <a:srgbClr val="1E1F20"/>
                </a:highlight>
                <a:latin typeface="Consolas" pitchFamily="34" charset="0"/>
                <a:ea typeface="Consolas" pitchFamily="34" charset="-122"/>
                <a:cs typeface="Consolas" pitchFamily="34" charset="-120"/>
              </a:rPr>
              <a:t>&gt;</a:t>
            </a:r>
            <a:r>
              <a:rPr lang="en-US" sz="1700" dirty="0" smtClean="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&lt;h1&gt;</a:t>
            </a:r>
            <a:r>
              <a:rPr lang="en-US" sz="1700" dirty="0">
                <a:solidFill>
                  <a:srgbClr val="E2E6E9"/>
                </a:solidFill>
                <a:latin typeface="Source Sans 3" pitchFamily="34" charset="0"/>
                <a:ea typeface="Source Sans 3" pitchFamily="34" charset="-122"/>
                <a:cs typeface="Source Sans 3" pitchFamily="34" charset="-120"/>
              </a:rPr>
              <a:t>-</a:t>
            </a:r>
            <a:r>
              <a:rPr lang="en-US" sz="1700" dirty="0">
                <a:solidFill>
                  <a:srgbClr val="E2E6E9"/>
                </a:solidFill>
                <a:highlight>
                  <a:srgbClr val="1E1F20"/>
                </a:highlight>
                <a:latin typeface="Consolas" pitchFamily="34" charset="0"/>
                <a:ea typeface="Consolas" pitchFamily="34" charset="-122"/>
                <a:cs typeface="Consolas" pitchFamily="34" charset="-120"/>
              </a:rPr>
              <a:t>&lt;h6&gt;</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&lt;ul&gt;</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&lt;li&gt;</a:t>
            </a:r>
            <a:endParaRPr lang="en-US" sz="1700" dirty="0"/>
          </a:p>
        </p:txBody>
      </p:sp>
      <p:sp>
        <p:nvSpPr>
          <p:cNvPr id="9" name="Shape 7"/>
          <p:cNvSpPr/>
          <p:nvPr/>
        </p:nvSpPr>
        <p:spPr>
          <a:xfrm>
            <a:off x="7423071" y="3759398"/>
            <a:ext cx="6343531" cy="2369582"/>
          </a:xfrm>
          <a:prstGeom prst="roundRect">
            <a:avLst>
              <a:gd name="adj" fmla="val 6174"/>
            </a:avLst>
          </a:prstGeom>
          <a:solidFill>
            <a:srgbClr val="111213"/>
          </a:solidFill>
          <a:ln w="30480">
            <a:solidFill>
              <a:srgbClr val="494A4B"/>
            </a:solidFill>
            <a:prstDash val="solid"/>
          </a:ln>
        </p:spPr>
      </p:sp>
      <p:sp>
        <p:nvSpPr>
          <p:cNvPr id="10" name="Shape 8"/>
          <p:cNvSpPr/>
          <p:nvPr/>
        </p:nvSpPr>
        <p:spPr>
          <a:xfrm>
            <a:off x="7392591" y="3759398"/>
            <a:ext cx="121920" cy="2369582"/>
          </a:xfrm>
          <a:prstGeom prst="roundRect">
            <a:avLst>
              <a:gd name="adj" fmla="val 26572"/>
            </a:avLst>
          </a:prstGeom>
          <a:solidFill>
            <a:srgbClr val="FFFFFF"/>
          </a:solidFill>
          <a:ln/>
        </p:spPr>
      </p:sp>
      <p:sp>
        <p:nvSpPr>
          <p:cNvPr id="11" name="Text 9"/>
          <p:cNvSpPr/>
          <p:nvPr/>
        </p:nvSpPr>
        <p:spPr>
          <a:xfrm>
            <a:off x="7760851" y="4005739"/>
            <a:ext cx="2454235" cy="306705"/>
          </a:xfrm>
          <a:prstGeom prst="rect">
            <a:avLst/>
          </a:prstGeom>
          <a:noFill/>
          <a:ln/>
        </p:spPr>
        <p:txBody>
          <a:bodyPr wrap="none" lIns="0" tIns="0" rIns="0" bIns="0" rtlCol="0" anchor="t"/>
          <a:lstStyle/>
          <a:p>
            <a:pPr marL="0" indent="0" algn="l">
              <a:lnSpc>
                <a:spcPts val="2400"/>
              </a:lnSpc>
              <a:buNone/>
            </a:pPr>
            <a:r>
              <a:rPr lang="en-US" sz="1900" b="1" dirty="0">
                <a:solidFill>
                  <a:srgbClr val="E2E6E9"/>
                </a:solidFill>
                <a:latin typeface="Montserrat Bold" pitchFamily="34" charset="0"/>
                <a:ea typeface="Montserrat Bold" pitchFamily="34" charset="-122"/>
                <a:cs typeface="Montserrat Bold" pitchFamily="34" charset="-120"/>
              </a:rPr>
              <a:t>Inline Elements</a:t>
            </a:r>
            <a:endParaRPr lang="en-US" sz="1900" dirty="0"/>
          </a:p>
        </p:txBody>
      </p:sp>
      <p:sp>
        <p:nvSpPr>
          <p:cNvPr id="12" name="Text 10"/>
          <p:cNvSpPr/>
          <p:nvPr/>
        </p:nvSpPr>
        <p:spPr>
          <a:xfrm>
            <a:off x="7760851" y="4441984"/>
            <a:ext cx="5759410" cy="971907"/>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Inline elements do not start on a new line and only take up as much width as necessary for their content. They typically sit within block elements.</a:t>
            </a:r>
            <a:endParaRPr lang="en-US" sz="1700" dirty="0"/>
          </a:p>
        </p:txBody>
      </p:sp>
      <p:sp>
        <p:nvSpPr>
          <p:cNvPr id="13" name="Text 11"/>
          <p:cNvSpPr/>
          <p:nvPr/>
        </p:nvSpPr>
        <p:spPr>
          <a:xfrm>
            <a:off x="7760851" y="5543431"/>
            <a:ext cx="5759410" cy="339209"/>
          </a:xfrm>
          <a:prstGeom prst="rect">
            <a:avLst/>
          </a:prstGeom>
          <a:noFill/>
          <a:ln/>
        </p:spPr>
        <p:txBody>
          <a:bodyPr wrap="none" lIns="0" tIns="0" rIns="0" bIns="0" rtlCol="0" anchor="t"/>
          <a:lstStyle/>
          <a:p>
            <a:pPr marL="0" indent="0" algn="l">
              <a:lnSpc>
                <a:spcPts val="2550"/>
              </a:lnSpc>
              <a:buNone/>
            </a:pPr>
            <a:r>
              <a:rPr lang="en-US" sz="1700" b="1" dirty="0">
                <a:solidFill>
                  <a:srgbClr val="E2E6E9"/>
                </a:solidFill>
                <a:latin typeface="Source Sans 3" pitchFamily="34" charset="0"/>
                <a:ea typeface="Source Sans 3" pitchFamily="34" charset="-122"/>
                <a:cs typeface="Source Sans 3" pitchFamily="34" charset="-120"/>
              </a:rPr>
              <a:t>Examples:</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&lt;span&gt;</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&lt;a&gt;</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&lt;strong&gt;</a:t>
            </a:r>
            <a:r>
              <a:rPr lang="en-US" sz="1700" dirty="0">
                <a:solidFill>
                  <a:srgbClr val="E2E6E9"/>
                </a:solidFill>
                <a:latin typeface="Source Sans 3" pitchFamily="34" charset="0"/>
                <a:ea typeface="Source Sans 3" pitchFamily="34" charset="-122"/>
                <a:cs typeface="Source Sans 3" pitchFamily="34" charset="-120"/>
              </a:rPr>
              <a:t>, </a:t>
            </a:r>
            <a:r>
              <a:rPr lang="en-US" sz="1700" dirty="0">
                <a:solidFill>
                  <a:srgbClr val="E2E6E9"/>
                </a:solidFill>
                <a:highlight>
                  <a:srgbClr val="1E1F20"/>
                </a:highlight>
                <a:latin typeface="Consolas" pitchFamily="34" charset="0"/>
                <a:ea typeface="Consolas" pitchFamily="34" charset="-122"/>
                <a:cs typeface="Consolas" pitchFamily="34" charset="-120"/>
              </a:rPr>
              <a:t>&lt;</a:t>
            </a:r>
            <a:r>
              <a:rPr lang="en-US" sz="1700" dirty="0" err="1">
                <a:solidFill>
                  <a:srgbClr val="E2E6E9"/>
                </a:solidFill>
                <a:highlight>
                  <a:srgbClr val="1E1F20"/>
                </a:highlight>
                <a:latin typeface="Consolas" pitchFamily="34" charset="0"/>
                <a:ea typeface="Consolas" pitchFamily="34" charset="-122"/>
                <a:cs typeface="Consolas" pitchFamily="34" charset="-120"/>
              </a:rPr>
              <a:t>em</a:t>
            </a:r>
            <a:r>
              <a:rPr lang="en-US" sz="1700" dirty="0" smtClean="0">
                <a:solidFill>
                  <a:srgbClr val="E2E6E9"/>
                </a:solidFill>
                <a:highlight>
                  <a:srgbClr val="1E1F20"/>
                </a:highlight>
                <a:latin typeface="Consolas" pitchFamily="34" charset="0"/>
                <a:ea typeface="Consolas" pitchFamily="34" charset="-122"/>
                <a:cs typeface="Consolas" pitchFamily="34" charset="-120"/>
              </a:rPr>
              <a:t>&gt;</a:t>
            </a:r>
            <a:endParaRPr lang="en-US" sz="1700" dirty="0"/>
          </a:p>
        </p:txBody>
      </p:sp>
      <p:sp>
        <p:nvSpPr>
          <p:cNvPr id="14" name="Text 12"/>
          <p:cNvSpPr/>
          <p:nvPr/>
        </p:nvSpPr>
        <p:spPr>
          <a:xfrm>
            <a:off x="863798" y="6371868"/>
            <a:ext cx="12902803" cy="647938"/>
          </a:xfrm>
          <a:prstGeom prst="rect">
            <a:avLst/>
          </a:prstGeom>
          <a:noFill/>
          <a:ln/>
        </p:spPr>
        <p:txBody>
          <a:bodyPr wrap="square" lIns="0" tIns="0" rIns="0" bIns="0" rtlCol="0" anchor="t"/>
          <a:lstStyle/>
          <a:p>
            <a:pPr marL="0" indent="0" algn="l">
              <a:lnSpc>
                <a:spcPts val="2550"/>
              </a:lnSpc>
              <a:buNone/>
            </a:pPr>
            <a:r>
              <a:rPr lang="en-US" sz="1700" dirty="0">
                <a:solidFill>
                  <a:srgbClr val="E2E6E9"/>
                </a:solidFill>
                <a:latin typeface="Source Sans 3" pitchFamily="34" charset="0"/>
                <a:ea typeface="Source Sans 3" pitchFamily="34" charset="-122"/>
                <a:cs typeface="Source Sans 3" pitchFamily="34" charset="-120"/>
              </a:rPr>
              <a:t>This visual distinction is critical for predicting how your content will render and for effective CSS styling. You can't put block-level elements inside inline elements without breaking HTML rules.</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52450" y="379809"/>
            <a:ext cx="5949910" cy="400050"/>
          </a:xfrm>
          <a:prstGeom prst="rect">
            <a:avLst/>
          </a:prstGeom>
          <a:noFill/>
          <a:ln/>
        </p:spPr>
        <p:txBody>
          <a:bodyPr wrap="none" lIns="0" tIns="0" rIns="0" bIns="0" rtlCol="0" anchor="t"/>
          <a:lstStyle/>
          <a:p>
            <a:pPr marL="0" indent="0" algn="l">
              <a:lnSpc>
                <a:spcPts val="3050"/>
              </a:lnSpc>
              <a:buNone/>
            </a:pPr>
            <a:r>
              <a:rPr lang="en-US" sz="2450" b="1" dirty="0">
                <a:solidFill>
                  <a:srgbClr val="FFFFFF"/>
                </a:solidFill>
                <a:latin typeface="Montserrat Bold" pitchFamily="34" charset="0"/>
                <a:ea typeface="Montserrat Bold" pitchFamily="34" charset="-122"/>
                <a:cs typeface="Montserrat Bold" pitchFamily="34" charset="-120"/>
              </a:rPr>
              <a:t>Navigating the Web with Links (</a:t>
            </a:r>
            <a:r>
              <a:rPr lang="en-US" sz="2450" b="1" dirty="0">
                <a:solidFill>
                  <a:srgbClr val="E2E6E9"/>
                </a:solidFill>
                <a:highlight>
                  <a:srgbClr val="1E1F20"/>
                </a:highlight>
                <a:latin typeface="Consolas" pitchFamily="34" charset="0"/>
                <a:ea typeface="Consolas" pitchFamily="34" charset="-122"/>
                <a:cs typeface="Consolas" pitchFamily="34" charset="-120"/>
              </a:rPr>
              <a:t>&lt;a&gt;</a:t>
            </a:r>
            <a:r>
              <a:rPr lang="en-US" sz="2450" b="1" dirty="0">
                <a:solidFill>
                  <a:srgbClr val="FFFFFF"/>
                </a:solidFill>
                <a:latin typeface="Montserrat Bold" pitchFamily="34" charset="0"/>
                <a:ea typeface="Montserrat Bold" pitchFamily="34" charset="-122"/>
                <a:cs typeface="Montserrat Bold" pitchFamily="34" charset="-120"/>
              </a:rPr>
              <a:t>)</a:t>
            </a:r>
            <a:endParaRPr lang="en-US" sz="2450" dirty="0"/>
          </a:p>
        </p:txBody>
      </p:sp>
      <p:sp>
        <p:nvSpPr>
          <p:cNvPr id="3" name="Text 1"/>
          <p:cNvSpPr/>
          <p:nvPr/>
        </p:nvSpPr>
        <p:spPr>
          <a:xfrm>
            <a:off x="552450" y="1056084"/>
            <a:ext cx="13525500" cy="214789"/>
          </a:xfrm>
          <a:prstGeom prst="rect">
            <a:avLst/>
          </a:prstGeom>
          <a:noFill/>
          <a:ln/>
        </p:spPr>
        <p:txBody>
          <a:bodyPr wrap="none" lIns="0" tIns="0" rIns="0" bIns="0" rtlCol="0" anchor="t"/>
          <a:lstStyle/>
          <a:p>
            <a:pPr marL="0" indent="0" algn="l">
              <a:lnSpc>
                <a:spcPts val="1600"/>
              </a:lnSpc>
              <a:buNone/>
            </a:pPr>
            <a:r>
              <a:rPr lang="en-US" sz="1050" dirty="0">
                <a:solidFill>
                  <a:srgbClr val="E2E6E9"/>
                </a:solidFill>
                <a:latin typeface="Source Sans 3" pitchFamily="34" charset="0"/>
                <a:ea typeface="Source Sans 3" pitchFamily="34" charset="-122"/>
                <a:cs typeface="Source Sans 3" pitchFamily="34" charset="-120"/>
              </a:rPr>
              <a:t>Links are the cornerstone of the web, connecting documents and creating the "hypertext" in HTML. The </a:t>
            </a:r>
            <a:r>
              <a:rPr lang="en-US" sz="1050" dirty="0">
                <a:solidFill>
                  <a:srgbClr val="E2E6E9"/>
                </a:solidFill>
                <a:highlight>
                  <a:srgbClr val="1E1F20"/>
                </a:highlight>
                <a:latin typeface="Consolas" pitchFamily="34" charset="0"/>
                <a:ea typeface="Consolas" pitchFamily="34" charset="-122"/>
                <a:cs typeface="Consolas" pitchFamily="34" charset="-120"/>
              </a:rPr>
              <a:t>&lt;a&gt;</a:t>
            </a:r>
            <a:r>
              <a:rPr lang="en-US" sz="1050" dirty="0">
                <a:solidFill>
                  <a:srgbClr val="E2E6E9"/>
                </a:solidFill>
                <a:latin typeface="Source Sans 3" pitchFamily="34" charset="0"/>
                <a:ea typeface="Source Sans 3" pitchFamily="34" charset="-122"/>
                <a:cs typeface="Source Sans 3" pitchFamily="34" charset="-120"/>
              </a:rPr>
              <a:t> (anchor) tag is used to create hyperlinks.</a:t>
            </a:r>
            <a:endParaRPr lang="en-US" sz="1050" dirty="0"/>
          </a:p>
        </p:txBody>
      </p:sp>
      <p:sp>
        <p:nvSpPr>
          <p:cNvPr id="4" name="Text 2"/>
          <p:cNvSpPr/>
          <p:nvPr/>
        </p:nvSpPr>
        <p:spPr>
          <a:xfrm>
            <a:off x="552450" y="1564362"/>
            <a:ext cx="1569720" cy="196096"/>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Montserrat Bold" pitchFamily="34" charset="0"/>
                <a:ea typeface="Montserrat Bold" pitchFamily="34" charset="-122"/>
                <a:cs typeface="Montserrat Bold" pitchFamily="34" charset="-120"/>
              </a:rPr>
              <a:t>Types of Links</a:t>
            </a:r>
            <a:endParaRPr lang="en-US" sz="1200" dirty="0"/>
          </a:p>
        </p:txBody>
      </p:sp>
      <p:sp>
        <p:nvSpPr>
          <p:cNvPr id="5" name="Text 3"/>
          <p:cNvSpPr/>
          <p:nvPr/>
        </p:nvSpPr>
        <p:spPr>
          <a:xfrm>
            <a:off x="552450" y="1898571"/>
            <a:ext cx="6594277" cy="421958"/>
          </a:xfrm>
          <a:prstGeom prst="rect">
            <a:avLst/>
          </a:prstGeom>
          <a:noFill/>
          <a:ln/>
        </p:spPr>
        <p:txBody>
          <a:bodyPr wrap="squar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External Links:</a:t>
            </a:r>
            <a:r>
              <a:rPr lang="en-US" sz="1050" dirty="0">
                <a:solidFill>
                  <a:srgbClr val="E2E6E9"/>
                </a:solidFill>
                <a:latin typeface="Source Sans 3" pitchFamily="34" charset="0"/>
                <a:ea typeface="Source Sans 3" pitchFamily="34" charset="-122"/>
                <a:cs typeface="Source Sans 3" pitchFamily="34" charset="-120"/>
              </a:rPr>
              <a:t> Point to another website.</a:t>
            </a:r>
            <a:r>
              <a:rPr lang="en-US" sz="1050" dirty="0">
                <a:solidFill>
                  <a:srgbClr val="E2E6E9"/>
                </a:solidFill>
                <a:highlight>
                  <a:srgbClr val="1E1F20"/>
                </a:highlight>
                <a:latin typeface="Consolas" pitchFamily="34" charset="0"/>
                <a:ea typeface="Consolas" pitchFamily="34" charset="-122"/>
                <a:cs typeface="Consolas" pitchFamily="34" charset="-120"/>
              </a:rPr>
              <a:t>&lt;a href="https://google.com"&gt;Google&lt;/a&gt;</a:t>
            </a:r>
            <a:endParaRPr lang="en-US" sz="1050" dirty="0"/>
          </a:p>
        </p:txBody>
      </p:sp>
      <p:sp>
        <p:nvSpPr>
          <p:cNvPr id="6" name="Text 4"/>
          <p:cNvSpPr/>
          <p:nvPr/>
        </p:nvSpPr>
        <p:spPr>
          <a:xfrm>
            <a:off x="552450" y="2368868"/>
            <a:ext cx="6594277" cy="421958"/>
          </a:xfrm>
          <a:prstGeom prst="rect">
            <a:avLst/>
          </a:prstGeom>
          <a:noFill/>
          <a:ln/>
        </p:spPr>
        <p:txBody>
          <a:bodyPr wrap="squar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Internal Links:</a:t>
            </a:r>
            <a:r>
              <a:rPr lang="en-US" sz="1050" dirty="0">
                <a:solidFill>
                  <a:srgbClr val="E2E6E9"/>
                </a:solidFill>
                <a:latin typeface="Source Sans 3" pitchFamily="34" charset="0"/>
                <a:ea typeface="Source Sans 3" pitchFamily="34" charset="-122"/>
                <a:cs typeface="Source Sans 3" pitchFamily="34" charset="-120"/>
              </a:rPr>
              <a:t> Point to another page within your own website.</a:t>
            </a:r>
            <a:r>
              <a:rPr lang="en-US" sz="1050" dirty="0">
                <a:solidFill>
                  <a:srgbClr val="E2E6E9"/>
                </a:solidFill>
                <a:highlight>
                  <a:srgbClr val="1E1F20"/>
                </a:highlight>
                <a:latin typeface="Consolas" pitchFamily="34" charset="0"/>
                <a:ea typeface="Consolas" pitchFamily="34" charset="-122"/>
                <a:cs typeface="Consolas" pitchFamily="34" charset="-120"/>
              </a:rPr>
              <a:t>&lt;a href="about.html"&gt;About Us&lt;/a&gt;</a:t>
            </a:r>
            <a:endParaRPr lang="en-US" sz="1050" dirty="0"/>
          </a:p>
        </p:txBody>
      </p:sp>
      <p:sp>
        <p:nvSpPr>
          <p:cNvPr id="7" name="Text 5"/>
          <p:cNvSpPr/>
          <p:nvPr/>
        </p:nvSpPr>
        <p:spPr>
          <a:xfrm>
            <a:off x="552450" y="2839164"/>
            <a:ext cx="6594277" cy="429578"/>
          </a:xfrm>
          <a:prstGeom prst="rect">
            <a:avLst/>
          </a:prstGeom>
          <a:noFill/>
          <a:ln/>
        </p:spPr>
        <p:txBody>
          <a:bodyPr wrap="squar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Anchor Links:</a:t>
            </a:r>
            <a:r>
              <a:rPr lang="en-US" sz="1050" dirty="0">
                <a:solidFill>
                  <a:srgbClr val="E2E6E9"/>
                </a:solidFill>
                <a:latin typeface="Source Sans 3" pitchFamily="34" charset="0"/>
                <a:ea typeface="Source Sans 3" pitchFamily="34" charset="-122"/>
                <a:cs typeface="Source Sans 3" pitchFamily="34" charset="-120"/>
              </a:rPr>
              <a:t> Jump to a specific section on the same page. Requires an </a:t>
            </a:r>
            <a:r>
              <a:rPr lang="en-US" sz="1050" dirty="0">
                <a:solidFill>
                  <a:srgbClr val="E2E6E9"/>
                </a:solidFill>
                <a:highlight>
                  <a:srgbClr val="1E1F20"/>
                </a:highlight>
                <a:latin typeface="Consolas" pitchFamily="34" charset="0"/>
                <a:ea typeface="Consolas" pitchFamily="34" charset="-122"/>
                <a:cs typeface="Consolas" pitchFamily="34" charset="-120"/>
              </a:rPr>
              <a:t>id</a:t>
            </a:r>
            <a:r>
              <a:rPr lang="en-US" sz="1050" dirty="0">
                <a:solidFill>
                  <a:srgbClr val="E2E6E9"/>
                </a:solidFill>
                <a:latin typeface="Source Sans 3" pitchFamily="34" charset="0"/>
                <a:ea typeface="Source Sans 3" pitchFamily="34" charset="-122"/>
                <a:cs typeface="Source Sans 3" pitchFamily="34" charset="-120"/>
              </a:rPr>
              <a:t> attribute on the target element.</a:t>
            </a:r>
            <a:r>
              <a:rPr lang="en-US" sz="1050" dirty="0">
                <a:solidFill>
                  <a:srgbClr val="E2E6E9"/>
                </a:solidFill>
                <a:highlight>
                  <a:srgbClr val="1E1F20"/>
                </a:highlight>
                <a:latin typeface="Consolas" pitchFamily="34" charset="0"/>
                <a:ea typeface="Consolas" pitchFamily="34" charset="-122"/>
                <a:cs typeface="Consolas" pitchFamily="34" charset="-120"/>
              </a:rPr>
              <a:t>&lt;a href="#about-section"&gt;Go to About&lt;/a&gt;</a:t>
            </a:r>
            <a:endParaRPr lang="en-US" sz="1050" dirty="0"/>
          </a:p>
        </p:txBody>
      </p:sp>
      <p:sp>
        <p:nvSpPr>
          <p:cNvPr id="8" name="Text 6"/>
          <p:cNvSpPr/>
          <p:nvPr/>
        </p:nvSpPr>
        <p:spPr>
          <a:xfrm>
            <a:off x="552450" y="3406854"/>
            <a:ext cx="1754029" cy="196096"/>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Montserrat Bold" pitchFamily="34" charset="0"/>
                <a:ea typeface="Montserrat Bold" pitchFamily="34" charset="-122"/>
                <a:cs typeface="Montserrat Bold" pitchFamily="34" charset="-120"/>
              </a:rPr>
              <a:t>Important Attributes:</a:t>
            </a:r>
            <a:endParaRPr lang="en-US" sz="1200" dirty="0"/>
          </a:p>
        </p:txBody>
      </p:sp>
      <p:sp>
        <p:nvSpPr>
          <p:cNvPr id="9" name="Text 7"/>
          <p:cNvSpPr/>
          <p:nvPr/>
        </p:nvSpPr>
        <p:spPr>
          <a:xfrm>
            <a:off x="552450" y="3741063"/>
            <a:ext cx="6594277" cy="207169"/>
          </a:xfrm>
          <a:prstGeom prst="rect">
            <a:avLst/>
          </a:prstGeom>
          <a:noFill/>
          <a:ln/>
        </p:spPr>
        <p:txBody>
          <a:bodyPr wrap="non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href:</a:t>
            </a:r>
            <a:r>
              <a:rPr lang="en-US" sz="1050" dirty="0">
                <a:solidFill>
                  <a:srgbClr val="E2E6E9"/>
                </a:solidFill>
                <a:latin typeface="Source Sans 3" pitchFamily="34" charset="0"/>
                <a:ea typeface="Source Sans 3" pitchFamily="34" charset="-122"/>
                <a:cs typeface="Source Sans 3" pitchFamily="34" charset="-120"/>
              </a:rPr>
              <a:t> Specifies the URL of the page the link goes to.</a:t>
            </a:r>
            <a:endParaRPr lang="en-US" sz="1050" dirty="0"/>
          </a:p>
        </p:txBody>
      </p:sp>
      <p:sp>
        <p:nvSpPr>
          <p:cNvPr id="10" name="Text 8"/>
          <p:cNvSpPr/>
          <p:nvPr/>
        </p:nvSpPr>
        <p:spPr>
          <a:xfrm>
            <a:off x="552450" y="3996571"/>
            <a:ext cx="6594277" cy="207169"/>
          </a:xfrm>
          <a:prstGeom prst="rect">
            <a:avLst/>
          </a:prstGeom>
          <a:noFill/>
          <a:ln/>
        </p:spPr>
        <p:txBody>
          <a:bodyPr wrap="non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target="_blank":</a:t>
            </a:r>
            <a:r>
              <a:rPr lang="en-US" sz="1050" dirty="0">
                <a:solidFill>
                  <a:srgbClr val="E2E6E9"/>
                </a:solidFill>
                <a:latin typeface="Source Sans 3" pitchFamily="34" charset="0"/>
                <a:ea typeface="Source Sans 3" pitchFamily="34" charset="-122"/>
                <a:cs typeface="Source Sans 3" pitchFamily="34" charset="-120"/>
              </a:rPr>
              <a:t> Opens the linked document in a new browser tab or window, useful for external links.</a:t>
            </a:r>
            <a:endParaRPr lang="en-US" sz="1050" dirty="0"/>
          </a:p>
        </p:txBody>
      </p:sp>
      <p:sp>
        <p:nvSpPr>
          <p:cNvPr id="11" name="Text 9"/>
          <p:cNvSpPr/>
          <p:nvPr/>
        </p:nvSpPr>
        <p:spPr>
          <a:xfrm>
            <a:off x="552450" y="4252079"/>
            <a:ext cx="6594277" cy="207169"/>
          </a:xfrm>
          <a:prstGeom prst="rect">
            <a:avLst/>
          </a:prstGeom>
          <a:noFill/>
          <a:ln/>
        </p:spPr>
        <p:txBody>
          <a:bodyPr wrap="non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id:</a:t>
            </a:r>
            <a:r>
              <a:rPr lang="en-US" sz="1050" dirty="0">
                <a:solidFill>
                  <a:srgbClr val="E2E6E9"/>
                </a:solidFill>
                <a:latin typeface="Source Sans 3" pitchFamily="34" charset="0"/>
                <a:ea typeface="Source Sans 3" pitchFamily="34" charset="-122"/>
                <a:cs typeface="Source Sans 3" pitchFamily="34" charset="-120"/>
              </a:rPr>
              <a:t> A unique identifier for an HTML element, used as a target for anchor links.</a:t>
            </a:r>
            <a:endParaRPr lang="en-US" sz="1050" dirty="0"/>
          </a:p>
        </p:txBody>
      </p:sp>
      <p:sp>
        <p:nvSpPr>
          <p:cNvPr id="12" name="Text 10"/>
          <p:cNvSpPr/>
          <p:nvPr/>
        </p:nvSpPr>
        <p:spPr>
          <a:xfrm>
            <a:off x="7491293" y="1564362"/>
            <a:ext cx="1569720" cy="196096"/>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Montserrat Bold" pitchFamily="34" charset="0"/>
                <a:ea typeface="Montserrat Bold" pitchFamily="34" charset="-122"/>
                <a:cs typeface="Montserrat Bold" pitchFamily="34" charset="-120"/>
              </a:rPr>
              <a:t>Example Usage</a:t>
            </a:r>
            <a:endParaRPr lang="en-US" sz="1200" dirty="0"/>
          </a:p>
        </p:txBody>
      </p:sp>
      <p:sp>
        <p:nvSpPr>
          <p:cNvPr id="13" name="Shape 11"/>
          <p:cNvSpPr/>
          <p:nvPr/>
        </p:nvSpPr>
        <p:spPr>
          <a:xfrm>
            <a:off x="7491293" y="1915835"/>
            <a:ext cx="6594277" cy="1450181"/>
          </a:xfrm>
          <a:prstGeom prst="roundRect">
            <a:avLst>
              <a:gd name="adj" fmla="val 1429"/>
            </a:avLst>
          </a:prstGeom>
          <a:solidFill>
            <a:srgbClr val="1E1F20"/>
          </a:solidFill>
          <a:ln/>
        </p:spPr>
      </p:sp>
      <p:sp>
        <p:nvSpPr>
          <p:cNvPr id="14" name="Shape 12"/>
          <p:cNvSpPr/>
          <p:nvPr/>
        </p:nvSpPr>
        <p:spPr>
          <a:xfrm>
            <a:off x="7484388" y="1915835"/>
            <a:ext cx="6608088" cy="1450181"/>
          </a:xfrm>
          <a:prstGeom prst="roundRect">
            <a:avLst>
              <a:gd name="adj" fmla="val 1429"/>
            </a:avLst>
          </a:prstGeom>
          <a:solidFill>
            <a:srgbClr val="1E1F20"/>
          </a:solidFill>
          <a:ln/>
        </p:spPr>
      </p:sp>
      <p:sp>
        <p:nvSpPr>
          <p:cNvPr id="15" name="Text 13"/>
          <p:cNvSpPr/>
          <p:nvPr/>
        </p:nvSpPr>
        <p:spPr>
          <a:xfrm>
            <a:off x="7622500" y="2019419"/>
            <a:ext cx="6331863" cy="1243013"/>
          </a:xfrm>
          <a:prstGeom prst="rect">
            <a:avLst/>
          </a:prstGeom>
          <a:noFill/>
          <a:ln/>
        </p:spPr>
        <p:txBody>
          <a:bodyPr wrap="square" lIns="0" tIns="0" rIns="0" bIns="0" rtlCol="0" anchor="t"/>
          <a:lstStyle/>
          <a:p>
            <a:pPr marL="0" indent="0" algn="l">
              <a:lnSpc>
                <a:spcPts val="1600"/>
              </a:lnSpc>
              <a:buNone/>
            </a:pPr>
            <a:r>
              <a:rPr lang="en-US" sz="1050" dirty="0">
                <a:solidFill>
                  <a:srgbClr val="E2E6E9"/>
                </a:solidFill>
                <a:highlight>
                  <a:srgbClr val="1E1F20"/>
                </a:highlight>
                <a:latin typeface="Consolas" pitchFamily="34" charset="0"/>
                <a:ea typeface="Consolas" pitchFamily="34" charset="-122"/>
                <a:cs typeface="Consolas" pitchFamily="34" charset="-120"/>
              </a:rPr>
              <a:t>&lt;h2 id="about-section"&gt;About Us&lt;/h2&gt;&lt;p&gt;Learn more &lt;a href="#about-section"&gt;about our company&lt;/a&gt;.&lt;/p&gt;&lt;p&gt;Visit &lt;a href="https://developer.mozilla.org" target="_blank"&gt;MDN Web Docs&lt;/a&gt; for more info.&lt;/p&gt;</a:t>
            </a:r>
            <a:endParaRPr lang="en-US" sz="1050" dirty="0"/>
          </a:p>
        </p:txBody>
      </p:sp>
      <p:sp>
        <p:nvSpPr>
          <p:cNvPr id="17" name="Text 14"/>
          <p:cNvSpPr/>
          <p:nvPr/>
        </p:nvSpPr>
        <p:spPr>
          <a:xfrm>
            <a:off x="7491293" y="8243292"/>
            <a:ext cx="6594277" cy="207169"/>
          </a:xfrm>
          <a:prstGeom prst="rect">
            <a:avLst/>
          </a:prstGeom>
          <a:noFill/>
          <a:ln/>
        </p:spPr>
        <p:txBody>
          <a:bodyPr wrap="none" lIns="0" tIns="0" rIns="0" bIns="0" rtlCol="0" anchor="t"/>
          <a:lstStyle/>
          <a:p>
            <a:pPr marL="0" indent="0" algn="l">
              <a:lnSpc>
                <a:spcPts val="1600"/>
              </a:lnSpc>
              <a:buNone/>
            </a:pPr>
            <a:r>
              <a:rPr lang="en-US" sz="1050" dirty="0">
                <a:solidFill>
                  <a:srgbClr val="E2E6E9"/>
                </a:solidFill>
                <a:latin typeface="Source Sans 3" pitchFamily="34" charset="0"/>
                <a:ea typeface="Source Sans 3" pitchFamily="34" charset="-122"/>
                <a:cs typeface="Source Sans 3" pitchFamily="34" charset="-120"/>
              </a:rPr>
              <a:t>Always ensure your links are descriptive and functional, providing a clear path for user navigation.</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5306" y="374928"/>
            <a:ext cx="6487597" cy="394930"/>
          </a:xfrm>
          <a:prstGeom prst="rect">
            <a:avLst/>
          </a:prstGeom>
          <a:noFill/>
          <a:ln/>
        </p:spPr>
        <p:txBody>
          <a:bodyPr wrap="none" lIns="0" tIns="0" rIns="0" bIns="0" rtlCol="0" anchor="t"/>
          <a:lstStyle/>
          <a:p>
            <a:pPr marL="0" indent="0" algn="l">
              <a:lnSpc>
                <a:spcPts val="3000"/>
              </a:lnSpc>
              <a:buNone/>
            </a:pPr>
            <a:r>
              <a:rPr lang="en-US" sz="2400" b="1" dirty="0">
                <a:solidFill>
                  <a:srgbClr val="FFFFFF"/>
                </a:solidFill>
                <a:latin typeface="Montserrat Bold" pitchFamily="34" charset="0"/>
                <a:ea typeface="Montserrat Bold" pitchFamily="34" charset="-122"/>
                <a:cs typeface="Montserrat Bold" pitchFamily="34" charset="-120"/>
              </a:rPr>
              <a:t>Enhancing Content with Images (</a:t>
            </a:r>
            <a:r>
              <a:rPr lang="en-US" sz="2400" b="1" dirty="0">
                <a:solidFill>
                  <a:srgbClr val="E2E6E9"/>
                </a:solidFill>
                <a:highlight>
                  <a:srgbClr val="1E1F20"/>
                </a:highlight>
                <a:latin typeface="Consolas" pitchFamily="34" charset="0"/>
                <a:ea typeface="Consolas" pitchFamily="34" charset="-122"/>
                <a:cs typeface="Consolas" pitchFamily="34" charset="-120"/>
              </a:rPr>
              <a:t>&lt;img&gt;</a:t>
            </a:r>
            <a:r>
              <a:rPr lang="en-US" sz="2400" b="1" dirty="0">
                <a:solidFill>
                  <a:srgbClr val="FFFFFF"/>
                </a:solidFill>
                <a:latin typeface="Montserrat Bold" pitchFamily="34" charset="0"/>
                <a:ea typeface="Montserrat Bold" pitchFamily="34" charset="-122"/>
                <a:cs typeface="Montserrat Bold" pitchFamily="34" charset="-120"/>
              </a:rPr>
              <a:t>)</a:t>
            </a:r>
            <a:endParaRPr lang="en-US" sz="2400" dirty="0"/>
          </a:p>
        </p:txBody>
      </p:sp>
      <p:sp>
        <p:nvSpPr>
          <p:cNvPr id="3" name="Text 1"/>
          <p:cNvSpPr/>
          <p:nvPr/>
        </p:nvSpPr>
        <p:spPr>
          <a:xfrm>
            <a:off x="545306" y="1042511"/>
            <a:ext cx="13539788" cy="219670"/>
          </a:xfrm>
          <a:prstGeom prst="rect">
            <a:avLst/>
          </a:prstGeom>
          <a:noFill/>
          <a:ln/>
        </p:spPr>
        <p:txBody>
          <a:bodyPr wrap="none" lIns="0" tIns="0" rIns="0" bIns="0" rtlCol="0" anchor="t"/>
          <a:lstStyle/>
          <a:p>
            <a:pPr marL="0" indent="0" algn="l">
              <a:lnSpc>
                <a:spcPts val="1600"/>
              </a:lnSpc>
              <a:buNone/>
            </a:pPr>
            <a:r>
              <a:rPr lang="en-US" sz="1050" dirty="0">
                <a:solidFill>
                  <a:srgbClr val="E2E6E9"/>
                </a:solidFill>
                <a:latin typeface="Source Sans 3" pitchFamily="34" charset="0"/>
                <a:ea typeface="Source Sans 3" pitchFamily="34" charset="-122"/>
                <a:cs typeface="Source Sans 3" pitchFamily="34" charset="-120"/>
              </a:rPr>
              <a:t>Images are vital for visual appeal and conveying information on a web page. The </a:t>
            </a:r>
            <a:r>
              <a:rPr lang="en-US" sz="1050" dirty="0">
                <a:solidFill>
                  <a:srgbClr val="E2E6E9"/>
                </a:solidFill>
                <a:highlight>
                  <a:srgbClr val="1E1F20"/>
                </a:highlight>
                <a:latin typeface="Consolas" pitchFamily="34" charset="0"/>
                <a:ea typeface="Consolas" pitchFamily="34" charset="-122"/>
                <a:cs typeface="Consolas" pitchFamily="34" charset="-120"/>
              </a:rPr>
              <a:t>&lt;img&gt;</a:t>
            </a:r>
            <a:r>
              <a:rPr lang="en-US" sz="1050" dirty="0">
                <a:solidFill>
                  <a:srgbClr val="E2E6E9"/>
                </a:solidFill>
                <a:latin typeface="Source Sans 3" pitchFamily="34" charset="0"/>
                <a:ea typeface="Source Sans 3" pitchFamily="34" charset="-122"/>
                <a:cs typeface="Source Sans 3" pitchFamily="34" charset="-120"/>
              </a:rPr>
              <a:t> tag is used to embed images, and it's a self-closing tag (it doesn't have a separate closing tag).</a:t>
            </a:r>
            <a:endParaRPr lang="en-US" sz="1050" dirty="0"/>
          </a:p>
        </p:txBody>
      </p:sp>
      <p:sp>
        <p:nvSpPr>
          <p:cNvPr id="4" name="Text 2"/>
          <p:cNvSpPr/>
          <p:nvPr/>
        </p:nvSpPr>
        <p:spPr>
          <a:xfrm>
            <a:off x="545306" y="1551861"/>
            <a:ext cx="2079784" cy="193596"/>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Montserrat Bold" pitchFamily="34" charset="0"/>
                <a:ea typeface="Montserrat Bold" pitchFamily="34" charset="-122"/>
                <a:cs typeface="Montserrat Bold" pitchFamily="34" charset="-120"/>
              </a:rPr>
              <a:t>Key Attributes for Images</a:t>
            </a:r>
            <a:endParaRPr lang="en-US" sz="1200" dirty="0"/>
          </a:p>
        </p:txBody>
      </p:sp>
      <p:sp>
        <p:nvSpPr>
          <p:cNvPr id="5" name="Text 3"/>
          <p:cNvSpPr/>
          <p:nvPr/>
        </p:nvSpPr>
        <p:spPr>
          <a:xfrm>
            <a:off x="545306" y="1881783"/>
            <a:ext cx="6603563" cy="424101"/>
          </a:xfrm>
          <a:prstGeom prst="rect">
            <a:avLst/>
          </a:prstGeom>
          <a:noFill/>
          <a:ln/>
        </p:spPr>
        <p:txBody>
          <a:bodyPr wrap="squar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src:</a:t>
            </a:r>
            <a:r>
              <a:rPr lang="en-US" sz="1050" dirty="0">
                <a:solidFill>
                  <a:srgbClr val="E2E6E9"/>
                </a:solidFill>
                <a:latin typeface="Source Sans 3" pitchFamily="34" charset="0"/>
                <a:ea typeface="Source Sans 3" pitchFamily="34" charset="-122"/>
                <a:cs typeface="Source Sans 3" pitchFamily="34" charset="-120"/>
              </a:rPr>
              <a:t> (Source) This is the most crucial attribute. It specifies the path to the image file. This can be a relative path (e.g., </a:t>
            </a:r>
            <a:r>
              <a:rPr lang="en-US" sz="1050" dirty="0">
                <a:solidFill>
                  <a:srgbClr val="E2E6E9"/>
                </a:solidFill>
                <a:highlight>
                  <a:srgbClr val="1E1F20"/>
                </a:highlight>
                <a:latin typeface="Consolas" pitchFamily="34" charset="0"/>
                <a:ea typeface="Consolas" pitchFamily="34" charset="-122"/>
                <a:cs typeface="Consolas" pitchFamily="34" charset="-120"/>
              </a:rPr>
              <a:t>"images/photo.jpg"</a:t>
            </a:r>
            <a:r>
              <a:rPr lang="en-US" sz="1050" dirty="0">
                <a:solidFill>
                  <a:srgbClr val="E2E6E9"/>
                </a:solidFill>
                <a:latin typeface="Source Sans 3" pitchFamily="34" charset="0"/>
                <a:ea typeface="Source Sans 3" pitchFamily="34" charset="-122"/>
                <a:cs typeface="Source Sans 3" pitchFamily="34" charset="-120"/>
              </a:rPr>
              <a:t>) or an absolute URL (e.g., </a:t>
            </a:r>
            <a:r>
              <a:rPr lang="en-US" sz="1050" dirty="0">
                <a:solidFill>
                  <a:srgbClr val="E2E6E9"/>
                </a:solidFill>
                <a:highlight>
                  <a:srgbClr val="1E1F20"/>
                </a:highlight>
                <a:latin typeface="Consolas" pitchFamily="34" charset="0"/>
                <a:ea typeface="Consolas" pitchFamily="34" charset="-122"/>
                <a:cs typeface="Consolas" pitchFamily="34" charset="-120"/>
              </a:rPr>
              <a:t>"https://example.com/photo.jpg"</a:t>
            </a:r>
            <a:r>
              <a:rPr lang="en-US" sz="1050" dirty="0">
                <a:solidFill>
                  <a:srgbClr val="E2E6E9"/>
                </a:solidFill>
                <a:latin typeface="Source Sans 3" pitchFamily="34" charset="0"/>
                <a:ea typeface="Source Sans 3" pitchFamily="34" charset="-122"/>
                <a:cs typeface="Source Sans 3" pitchFamily="34" charset="-120"/>
              </a:rPr>
              <a:t>).</a:t>
            </a:r>
            <a:endParaRPr lang="en-US" sz="1050" dirty="0"/>
          </a:p>
        </p:txBody>
      </p:sp>
      <p:sp>
        <p:nvSpPr>
          <p:cNvPr id="6" name="Text 4"/>
          <p:cNvSpPr/>
          <p:nvPr/>
        </p:nvSpPr>
        <p:spPr>
          <a:xfrm>
            <a:off x="545306" y="2353508"/>
            <a:ext cx="6603563" cy="408861"/>
          </a:xfrm>
          <a:prstGeom prst="rect">
            <a:avLst/>
          </a:prstGeom>
          <a:noFill/>
          <a:ln/>
        </p:spPr>
        <p:txBody>
          <a:bodyPr wrap="squar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alt:</a:t>
            </a:r>
            <a:r>
              <a:rPr lang="en-US" sz="1050" dirty="0">
                <a:solidFill>
                  <a:srgbClr val="E2E6E9"/>
                </a:solidFill>
                <a:latin typeface="Source Sans 3" pitchFamily="34" charset="0"/>
                <a:ea typeface="Source Sans 3" pitchFamily="34" charset="-122"/>
                <a:cs typeface="Source Sans 3" pitchFamily="34" charset="-120"/>
              </a:rPr>
              <a:t> (Alternative Text) Provides a text description of the image. This is essential for accessibility (screen readers), SEO, and when the image fails to load.</a:t>
            </a:r>
            <a:endParaRPr lang="en-US" sz="1050" dirty="0"/>
          </a:p>
        </p:txBody>
      </p:sp>
      <p:sp>
        <p:nvSpPr>
          <p:cNvPr id="7" name="Text 5"/>
          <p:cNvSpPr/>
          <p:nvPr/>
        </p:nvSpPr>
        <p:spPr>
          <a:xfrm>
            <a:off x="545306" y="2809994"/>
            <a:ext cx="6603563" cy="408861"/>
          </a:xfrm>
          <a:prstGeom prst="rect">
            <a:avLst/>
          </a:prstGeom>
          <a:noFill/>
          <a:ln/>
        </p:spPr>
        <p:txBody>
          <a:bodyPr wrap="square" lIns="0" tIns="0" rIns="0" bIns="0" rtlCol="0" anchor="t"/>
          <a:lstStyle/>
          <a:p>
            <a:pPr marL="342900" indent="-342900" algn="l">
              <a:lnSpc>
                <a:spcPts val="1600"/>
              </a:lnSpc>
              <a:buSzPct val="100000"/>
              <a:buChar char="•"/>
            </a:pPr>
            <a:r>
              <a:rPr lang="en-US" sz="1050" b="1" dirty="0">
                <a:solidFill>
                  <a:srgbClr val="E2E6E9"/>
                </a:solidFill>
                <a:latin typeface="Source Sans 3" pitchFamily="34" charset="0"/>
                <a:ea typeface="Source Sans 3" pitchFamily="34" charset="-122"/>
                <a:cs typeface="Source Sans 3" pitchFamily="34" charset="-120"/>
              </a:rPr>
              <a:t>width / height:</a:t>
            </a:r>
            <a:r>
              <a:rPr lang="en-US" sz="1050" dirty="0">
                <a:solidFill>
                  <a:srgbClr val="E2E6E9"/>
                </a:solidFill>
                <a:latin typeface="Source Sans 3" pitchFamily="34" charset="0"/>
                <a:ea typeface="Source Sans 3" pitchFamily="34" charset="-122"/>
                <a:cs typeface="Source Sans 3" pitchFamily="34" charset="-120"/>
              </a:rPr>
              <a:t> Specifies the dimensions of the image in pixels. While you can use these, it's often better to control image sizing with CSS for more flexible and responsive designs.</a:t>
            </a:r>
            <a:endParaRPr lang="en-US" sz="1050" dirty="0"/>
          </a:p>
        </p:txBody>
      </p:sp>
      <p:sp>
        <p:nvSpPr>
          <p:cNvPr id="8" name="Text 6"/>
          <p:cNvSpPr/>
          <p:nvPr/>
        </p:nvSpPr>
        <p:spPr>
          <a:xfrm>
            <a:off x="7489150" y="1551861"/>
            <a:ext cx="1549241" cy="193596"/>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Montserrat Bold" pitchFamily="34" charset="0"/>
                <a:ea typeface="Montserrat Bold" pitchFamily="34" charset="-122"/>
                <a:cs typeface="Montserrat Bold" pitchFamily="34" charset="-120"/>
              </a:rPr>
              <a:t>Image Example</a:t>
            </a:r>
            <a:endParaRPr lang="en-US" sz="1200" dirty="0"/>
          </a:p>
        </p:txBody>
      </p:sp>
      <p:sp>
        <p:nvSpPr>
          <p:cNvPr id="9" name="Shape 7"/>
          <p:cNvSpPr/>
          <p:nvPr/>
        </p:nvSpPr>
        <p:spPr>
          <a:xfrm>
            <a:off x="7489150" y="1898809"/>
            <a:ext cx="6603563" cy="817602"/>
          </a:xfrm>
          <a:prstGeom prst="roundRect">
            <a:avLst>
              <a:gd name="adj" fmla="val 2501"/>
            </a:avLst>
          </a:prstGeom>
          <a:solidFill>
            <a:srgbClr val="1E1F20"/>
          </a:solidFill>
          <a:ln/>
        </p:spPr>
      </p:sp>
      <p:sp>
        <p:nvSpPr>
          <p:cNvPr id="10" name="Shape 8"/>
          <p:cNvSpPr/>
          <p:nvPr/>
        </p:nvSpPr>
        <p:spPr>
          <a:xfrm>
            <a:off x="7482364" y="1898809"/>
            <a:ext cx="6617137" cy="817602"/>
          </a:xfrm>
          <a:prstGeom prst="roundRect">
            <a:avLst>
              <a:gd name="adj" fmla="val 2501"/>
            </a:avLst>
          </a:prstGeom>
          <a:solidFill>
            <a:srgbClr val="1E1F20"/>
          </a:solidFill>
          <a:ln/>
        </p:spPr>
      </p:sp>
      <p:sp>
        <p:nvSpPr>
          <p:cNvPr id="11" name="Text 9"/>
          <p:cNvSpPr/>
          <p:nvPr/>
        </p:nvSpPr>
        <p:spPr>
          <a:xfrm>
            <a:off x="7618690" y="2000964"/>
            <a:ext cx="6344483" cy="613291"/>
          </a:xfrm>
          <a:prstGeom prst="rect">
            <a:avLst/>
          </a:prstGeom>
          <a:noFill/>
          <a:ln/>
        </p:spPr>
        <p:txBody>
          <a:bodyPr wrap="square" lIns="0" tIns="0" rIns="0" bIns="0" rtlCol="0" anchor="t"/>
          <a:lstStyle/>
          <a:p>
            <a:pPr marL="0" indent="0" algn="l">
              <a:lnSpc>
                <a:spcPts val="1600"/>
              </a:lnSpc>
              <a:buNone/>
            </a:pPr>
            <a:r>
              <a:rPr lang="en-US" sz="1050" dirty="0">
                <a:solidFill>
                  <a:srgbClr val="E2E6E9"/>
                </a:solidFill>
                <a:highlight>
                  <a:srgbClr val="1E1F20"/>
                </a:highlight>
                <a:latin typeface="Consolas" pitchFamily="34" charset="0"/>
                <a:ea typeface="Consolas" pitchFamily="34" charset="-122"/>
                <a:cs typeface="Consolas" pitchFamily="34" charset="-120"/>
              </a:rPr>
              <a:t>&lt;img src="photo.jpg" alt="A serene landscape with mountains and a lake" width="500" height="300"&gt;</a:t>
            </a:r>
            <a:endParaRPr lang="en-US" sz="1050" dirty="0"/>
          </a:p>
        </p:txBody>
      </p:sp>
      <p:sp>
        <p:nvSpPr>
          <p:cNvPr id="12" name="Text 10"/>
          <p:cNvSpPr/>
          <p:nvPr/>
        </p:nvSpPr>
        <p:spPr>
          <a:xfrm>
            <a:off x="7489150" y="2869763"/>
            <a:ext cx="6603563" cy="219670"/>
          </a:xfrm>
          <a:prstGeom prst="rect">
            <a:avLst/>
          </a:prstGeom>
          <a:noFill/>
          <a:ln/>
        </p:spPr>
        <p:txBody>
          <a:bodyPr wrap="none" lIns="0" tIns="0" rIns="0" bIns="0" rtlCol="0" anchor="t"/>
          <a:lstStyle/>
          <a:p>
            <a:pPr marL="0" indent="0" algn="l">
              <a:lnSpc>
                <a:spcPts val="1600"/>
              </a:lnSpc>
              <a:buNone/>
            </a:pPr>
            <a:r>
              <a:rPr lang="en-US" sz="1050" dirty="0">
                <a:solidFill>
                  <a:srgbClr val="E2E6E9"/>
                </a:solidFill>
                <a:latin typeface="Source Sans 3" pitchFamily="34" charset="0"/>
                <a:ea typeface="Source Sans 3" pitchFamily="34" charset="-122"/>
                <a:cs typeface="Source Sans 3" pitchFamily="34" charset="-120"/>
              </a:rPr>
              <a:t>Remember that the </a:t>
            </a:r>
            <a:r>
              <a:rPr lang="en-US" sz="1050" dirty="0">
                <a:solidFill>
                  <a:srgbClr val="E2E6E9"/>
                </a:solidFill>
                <a:highlight>
                  <a:srgbClr val="1E1F20"/>
                </a:highlight>
                <a:latin typeface="Consolas" pitchFamily="34" charset="0"/>
                <a:ea typeface="Consolas" pitchFamily="34" charset="-122"/>
                <a:cs typeface="Consolas" pitchFamily="34" charset="-120"/>
              </a:rPr>
              <a:t>src</a:t>
            </a:r>
            <a:r>
              <a:rPr lang="en-US" sz="1050" dirty="0">
                <a:solidFill>
                  <a:srgbClr val="E2E6E9"/>
                </a:solidFill>
                <a:latin typeface="Source Sans 3" pitchFamily="34" charset="0"/>
                <a:ea typeface="Source Sans 3" pitchFamily="34" charset="-122"/>
                <a:cs typeface="Source Sans 3" pitchFamily="34" charset="-120"/>
              </a:rPr>
              <a:t> attribute is mandatory; without it, the browser won't know which image to display.</a:t>
            </a:r>
            <a:endParaRPr lang="en-US" sz="1050" dirty="0"/>
          </a:p>
        </p:txBody>
      </p:sp>
      <p:pic>
        <p:nvPicPr>
          <p:cNvPr id="13" name="Image 0" descr="preencoded.png"/>
          <p:cNvPicPr>
            <a:picLocks noChangeAspect="1"/>
          </p:cNvPicPr>
          <p:nvPr/>
        </p:nvPicPr>
        <p:blipFill>
          <a:blip r:embed="rId3"/>
          <a:stretch>
            <a:fillRect/>
          </a:stretch>
        </p:blipFill>
        <p:spPr>
          <a:xfrm>
            <a:off x="7489150" y="3242786"/>
            <a:ext cx="6603563" cy="4372451"/>
          </a:xfrm>
          <a:prstGeom prst="rect">
            <a:avLst/>
          </a:prstGeom>
        </p:spPr>
      </p:pic>
      <p:sp>
        <p:nvSpPr>
          <p:cNvPr id="14" name="Text 11"/>
          <p:cNvSpPr/>
          <p:nvPr/>
        </p:nvSpPr>
        <p:spPr>
          <a:xfrm>
            <a:off x="545306" y="7973020"/>
            <a:ext cx="1549241" cy="193596"/>
          </a:xfrm>
          <a:prstGeom prst="rect">
            <a:avLst/>
          </a:prstGeom>
          <a:noFill/>
          <a:ln/>
        </p:spPr>
        <p:txBody>
          <a:bodyPr wrap="none" lIns="0" tIns="0" rIns="0" bIns="0" rtlCol="0" anchor="t"/>
          <a:lstStyle/>
          <a:p>
            <a:pPr marL="0" indent="0" algn="l">
              <a:lnSpc>
                <a:spcPts val="1500"/>
              </a:lnSpc>
              <a:buNone/>
            </a:pPr>
            <a:r>
              <a:rPr lang="en-US" sz="1200" b="1" dirty="0">
                <a:solidFill>
                  <a:srgbClr val="FFFFFF"/>
                </a:solidFill>
                <a:latin typeface="Montserrat Bold" pitchFamily="34" charset="0"/>
                <a:ea typeface="Montserrat Bold" pitchFamily="34" charset="-122"/>
                <a:cs typeface="Montserrat Bold" pitchFamily="34" charset="-120"/>
              </a:rPr>
              <a:t>Your Task:</a:t>
            </a:r>
            <a:endParaRPr lang="en-US" sz="1200" dirty="0"/>
          </a:p>
        </p:txBody>
      </p:sp>
      <p:sp>
        <p:nvSpPr>
          <p:cNvPr id="15" name="Text 12"/>
          <p:cNvSpPr/>
          <p:nvPr/>
        </p:nvSpPr>
        <p:spPr>
          <a:xfrm>
            <a:off x="545306" y="8371046"/>
            <a:ext cx="13539788" cy="204430"/>
          </a:xfrm>
          <a:prstGeom prst="rect">
            <a:avLst/>
          </a:prstGeom>
          <a:noFill/>
          <a:ln/>
        </p:spPr>
        <p:txBody>
          <a:bodyPr wrap="none" lIns="0" tIns="0" rIns="0" bIns="0" rtlCol="0" anchor="t"/>
          <a:lstStyle/>
          <a:p>
            <a:pPr marL="0" indent="0" algn="l">
              <a:lnSpc>
                <a:spcPts val="1600"/>
              </a:lnSpc>
              <a:buNone/>
            </a:pPr>
            <a:r>
              <a:rPr lang="en-US" sz="1050" dirty="0">
                <a:solidFill>
                  <a:srgbClr val="E2E6E9"/>
                </a:solidFill>
                <a:latin typeface="Source Sans 3" pitchFamily="34" charset="0"/>
                <a:ea typeface="Source Sans 3" pitchFamily="34" charset="-122"/>
                <a:cs typeface="Source Sans 3" pitchFamily="34" charset="-120"/>
              </a:rPr>
              <a:t>Embed an image on your page (you can use any placeholder image URL if you don't have one locally). Below the image, create a link to Facebook that opens in a new tab.</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170</TotalTime>
  <Words>2035</Words>
  <Application>Microsoft Office PowerPoint</Application>
  <PresentationFormat>Custom</PresentationFormat>
  <Paragraphs>181</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Arial</vt:lpstr>
      <vt:lpstr>Calibri</vt:lpstr>
      <vt:lpstr>Consolas</vt:lpstr>
      <vt:lpstr>Montserrat Bold</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lastModifiedBy>RTX</cp:lastModifiedBy>
  <cp:revision>10</cp:revision>
  <dcterms:created xsi:type="dcterms:W3CDTF">2025-11-19T11:27:54Z</dcterms:created>
  <dcterms:modified xsi:type="dcterms:W3CDTF">2025-11-19T14:29:06Z</dcterms:modified>
</cp:coreProperties>
</file>