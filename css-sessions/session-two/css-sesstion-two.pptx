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</p:sldIdLst>
  <p:sldSz cx="14630400" cy="8229600"/>
  <p:notesSz cx="8229600" cy="146304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Consolas" pitchFamily="49" charset="0"/>
      <p:regular r:id="rId14"/>
      <p:bold r:id="rId15"/>
      <p:italic r:id="rId16"/>
      <p:boldItalic r:id="rId17"/>
    </p:embeddedFont>
    <p:embeddedFont>
      <p:font typeface="Roboto Slab" charset="0"/>
      <p:regular r:id="rId18"/>
    </p:embeddedFont>
    <p:embeddedFont>
      <p:font typeface="Roboto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-677" y="-187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826F2-2F58-4EB8-8462-E11053FF1C1E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79319-FD46-4811-89B4-3884B369B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42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8780"/>
            <a:ext cx="6621771" cy="814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Learning </a:t>
            </a:r>
            <a:r>
              <a:rPr lang="en-US" sz="3900" dirty="0" smtClean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CSS – session two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097298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6" name="TextBox 5"/>
          <p:cNvSpPr txBox="1"/>
          <p:nvPr/>
        </p:nvSpPr>
        <p:spPr>
          <a:xfrm>
            <a:off x="793790" y="1092820"/>
            <a:ext cx="7803800" cy="529375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Cursor: pointer, move…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List-style: none, any shape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Visibility: </a:t>
            </a:r>
            <a:r>
              <a:rPr lang="en-US" dirty="0" smtClean="0">
                <a:solidFill>
                  <a:schemeClr val="bg1"/>
                </a:solidFill>
              </a:rPr>
              <a:t>hidden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sz="3200" dirty="0" smtClean="0">
                <a:solidFill>
                  <a:schemeClr val="bg1"/>
                </a:solidFill>
              </a:rPr>
              <a:t>Notes: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The different between display none and visibility hidden is that the display none is not exists but the visibility hidden is exists but u can not see it because it looks like that the opacity of it is 0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The different between opacity 0 and visibility hidden is that opacity 0 we can click on it but visibility hidden we cant click on it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1153" y="447675"/>
            <a:ext cx="7053024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Things Show Up: Display Types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51153" y="1200388"/>
            <a:ext cx="7841694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2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property tells a web browser how an element should show itself. It changes how elements behave next to each other.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51153" y="1904286"/>
            <a:ext cx="7841694" cy="1349216"/>
          </a:xfrm>
          <a:prstGeom prst="roundRect">
            <a:avLst>
              <a:gd name="adj" fmla="val 8133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93" y="1904286"/>
            <a:ext cx="91440" cy="1349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5351" y="2089904"/>
            <a:ext cx="203489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display: block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05351" y="2441853"/>
            <a:ext cx="7401877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Takes up a whole line. Like a big box. Starts on a new </a:t>
            </a:r>
            <a:r>
              <a:rPr lang="en-US" sz="1250" dirty="0" smtClean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line. Takes margin and padding normally 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05351" y="2799874"/>
            <a:ext cx="7401877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 smtClean="0">
                <a:solidFill>
                  <a:schemeClr val="bg1"/>
                </a:solidFill>
              </a:rPr>
              <a:t>div, p, h1, </a:t>
            </a:r>
            <a:r>
              <a:rPr lang="en-US" sz="1400" dirty="0" err="1" smtClean="0">
                <a:solidFill>
                  <a:schemeClr val="bg1"/>
                </a:solidFill>
              </a:rPr>
              <a:t>ul</a:t>
            </a:r>
            <a:r>
              <a:rPr lang="en-US" sz="1400" dirty="0" smtClean="0">
                <a:solidFill>
                  <a:schemeClr val="bg1"/>
                </a:solidFill>
              </a:rPr>
              <a:t>, li, section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651153" y="3416260"/>
            <a:ext cx="7841694" cy="1349216"/>
          </a:xfrm>
          <a:prstGeom prst="roundRect">
            <a:avLst>
              <a:gd name="adj" fmla="val 8133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93" y="3416260"/>
            <a:ext cx="91440" cy="13492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5351" y="3601879"/>
            <a:ext cx="203489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display: inline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05351" y="3953828"/>
            <a:ext cx="7401877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Stays in the same line. Like a word in a </a:t>
            </a:r>
            <a:r>
              <a:rPr lang="en-US" sz="1250" dirty="0" smtClean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sentence. Takes margin and padding but just left and right. 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05351" y="4311848"/>
            <a:ext cx="7401877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 smtClean="0">
                <a:solidFill>
                  <a:schemeClr val="bg1"/>
                </a:solidFill>
              </a:rPr>
              <a:t>span, a, strong, </a:t>
            </a:r>
            <a:r>
              <a:rPr lang="en-US" sz="1400" dirty="0" err="1" smtClean="0">
                <a:solidFill>
                  <a:schemeClr val="bg1"/>
                </a:solidFill>
              </a:rPr>
              <a:t>img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51153" y="4928235"/>
            <a:ext cx="7841694" cy="1349216"/>
          </a:xfrm>
          <a:prstGeom prst="roundRect">
            <a:avLst>
              <a:gd name="adj" fmla="val 8133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93" y="4928235"/>
            <a:ext cx="91440" cy="13492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5351" y="5113853"/>
            <a:ext cx="203489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display: inline-block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05351" y="5465802"/>
            <a:ext cx="7401877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Like </a:t>
            </a:r>
            <a:r>
              <a:rPr lang="en-US" sz="12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inline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but you can set its size. It sits on the same line, but acts like a small box.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905351" y="5823823"/>
            <a:ext cx="7401877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 &lt;button&gt;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51153" y="6440210"/>
            <a:ext cx="7841694" cy="1341596"/>
          </a:xfrm>
          <a:prstGeom prst="roundRect">
            <a:avLst>
              <a:gd name="adj" fmla="val 8179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93" y="6440210"/>
            <a:ext cx="91440" cy="13415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5351" y="6625828"/>
            <a:ext cx="203489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display: none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905351" y="6977777"/>
            <a:ext cx="7401877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Hides the element completely. It's not there! It takes no space.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905351" y="7335798"/>
            <a:ext cx="7401877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display: none;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6982" y="424101"/>
            <a:ext cx="4842510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Where Things Sit: Position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6982" y="1214557"/>
            <a:ext cx="13396436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position</a:t>
            </a: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property helps us place elements exactly where we want them on the page. Here are the five main types: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82" y="1634847"/>
            <a:ext cx="771287" cy="1235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42455" y="1789033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static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542455" y="2122646"/>
            <a:ext cx="12470963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the normal way. Elements just go where they usually go.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42455" y="2461974"/>
            <a:ext cx="12470963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 { position: static; </a:t>
            </a:r>
            <a:r>
              <a:rPr lang="en-US" sz="1200" dirty="0" smtClean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 marL="0" indent="0" algn="l">
              <a:lnSpc>
                <a:spcPts val="1900"/>
              </a:lnSpc>
              <a:buNone/>
            </a:pPr>
            <a:endParaRPr lang="en-US" sz="1200" dirty="0">
              <a:solidFill>
                <a:srgbClr val="D6E5EF"/>
              </a:solidFill>
              <a:highlight>
                <a:srgbClr val="2D3440"/>
              </a:highlight>
              <a:latin typeface="Consolas" pitchFamily="34" charset="0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 sz="1200" dirty="0" smtClean="0">
              <a:solidFill>
                <a:srgbClr val="D6E5EF"/>
              </a:solidFill>
              <a:highlight>
                <a:srgbClr val="2D3440"/>
              </a:highlight>
              <a:latin typeface="Consolas" pitchFamily="34" charset="0"/>
            </a:endParaRPr>
          </a:p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82" y="2870597"/>
            <a:ext cx="771287" cy="123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42455" y="3024783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relative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42455" y="3358396"/>
            <a:ext cx="12470963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an element from its normal spot. Other things don't move because of it.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542455" y="3697724"/>
            <a:ext cx="12470963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 { position: relative; top: 10px; }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82" y="4106347"/>
            <a:ext cx="771287" cy="123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42455" y="4260533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absolute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542455" y="4594146"/>
            <a:ext cx="12470963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Moves an element based on its closest parent that is </a:t>
            </a: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</a:t>
            </a: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</a:t>
            </a: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It moves out of the normal flow.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542455" y="4933474"/>
            <a:ext cx="12470963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 { position: absolute; left: 50px; }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982" y="5342096"/>
            <a:ext cx="771287" cy="123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42455" y="5496282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fixed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542455" y="5829895"/>
            <a:ext cx="12470963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Stays in the same place on the screen, even if you scroll. Like a sticky header.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542455" y="6169223"/>
            <a:ext cx="12470963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 { position: fixed; bottom: 0; }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272891"/>
            <a:ext cx="40182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Arranging Things: Flexbox (Part 1)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96835" y="781407"/>
            <a:ext cx="1383672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Flexbox helps us arrange items in one direction: a row or a column. It makes things line up easily.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396835" y="8542139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justify-content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96835" y="8845987"/>
            <a:ext cx="1383672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controls how items are spaced along the main axis (row or column). Think of it as horizontal alignment for rows or vertical for columns.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96835" y="9116139"/>
            <a:ext cx="1383672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flex-start:</a:t>
            </a: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Items at the beginning.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396835" y="9309378"/>
            <a:ext cx="1383672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flex-end:</a:t>
            </a: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Items at the end.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396835" y="9502616"/>
            <a:ext cx="1383672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center:</a:t>
            </a: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Items in the middle.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396835" y="9695855"/>
            <a:ext cx="1383672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space-between:</a:t>
            </a: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Items with space between them.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396835" y="9889093"/>
            <a:ext cx="1383672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space-around:</a:t>
            </a: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Items with space around them.</a:t>
            </a:r>
            <a:endParaRPr lang="en-US" sz="750" dirty="0"/>
          </a:p>
        </p:txBody>
      </p:sp>
      <p:sp>
        <p:nvSpPr>
          <p:cNvPr id="19" name="TextBox 18"/>
          <p:cNvSpPr txBox="1"/>
          <p:nvPr/>
        </p:nvSpPr>
        <p:spPr>
          <a:xfrm>
            <a:off x="396835" y="1393902"/>
            <a:ext cx="1278390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Main </a:t>
            </a:r>
            <a:r>
              <a:rPr lang="en-US" dirty="0" err="1" smtClean="0">
                <a:solidFill>
                  <a:schemeClr val="bg1"/>
                </a:solidFill>
              </a:rPr>
              <a:t>Dev</a:t>
            </a:r>
            <a:r>
              <a:rPr lang="en-US" dirty="0" smtClean="0">
                <a:solidFill>
                  <a:schemeClr val="bg1"/>
                </a:solidFill>
              </a:rPr>
              <a:t> {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 display: flex;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flex-direction: row, column, column reverse, row reverse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gap: 20px;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   justify-content:  flex-end, flex-start, center, space-around, space-between, space evenly;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align-items: flex-start, flex-end, center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flex-wrap- wrap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}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algn="r"/>
            <a:r>
              <a:rPr lang="ar-EG" dirty="0">
                <a:solidFill>
                  <a:schemeClr val="bg1"/>
                </a:solidFill>
              </a:rPr>
              <a:t>لما نكتب</a:t>
            </a:r>
            <a:br>
              <a:rPr lang="ar-EG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(</a:t>
            </a:r>
            <a:r>
              <a:rPr lang="en-US" b="1" dirty="0" smtClean="0">
                <a:solidFill>
                  <a:schemeClr val="bg1"/>
                </a:solidFill>
              </a:rPr>
              <a:t>flex-direction</a:t>
            </a:r>
            <a:r>
              <a:rPr lang="en-US" b="1" dirty="0">
                <a:solidFill>
                  <a:schemeClr val="bg1"/>
                </a:solidFill>
              </a:rPr>
              <a:t>: column)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ar-EG" dirty="0">
                <a:solidFill>
                  <a:schemeClr val="bg1"/>
                </a:solidFill>
              </a:rPr>
              <a:t>المحور الرئيسي بيتحوّل من أفقي لرأسي.</a:t>
            </a:r>
          </a:p>
          <a:p>
            <a:pPr algn="r"/>
            <a:r>
              <a:rPr lang="ar-EG" dirty="0">
                <a:solidFill>
                  <a:schemeClr val="bg1"/>
                </a:solidFill>
              </a:rPr>
              <a:t>وده معناه إن:</a:t>
            </a:r>
          </a:p>
          <a:p>
            <a:pPr algn="r"/>
            <a:r>
              <a:rPr lang="en-US" b="1" dirty="0" smtClean="0">
                <a:solidFill>
                  <a:schemeClr val="bg1"/>
                </a:solidFill>
              </a:rPr>
              <a:t>(justify-content</a:t>
            </a:r>
            <a:r>
              <a:rPr lang="en-US" b="1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ar-EG" dirty="0">
                <a:solidFill>
                  <a:schemeClr val="bg1"/>
                </a:solidFill>
              </a:rPr>
              <a:t>هو اللي بيرتّب العناصر </a:t>
            </a:r>
            <a:r>
              <a:rPr lang="ar-EG" b="1" dirty="0">
                <a:solidFill>
                  <a:schemeClr val="bg1"/>
                </a:solidFill>
              </a:rPr>
              <a:t>فوق وتحت</a:t>
            </a:r>
            <a:r>
              <a:rPr lang="ar-EG" dirty="0" smtClean="0">
                <a:solidFill>
                  <a:schemeClr val="bg1"/>
                </a:solidFill>
              </a:rPr>
              <a:t>.</a:t>
            </a:r>
            <a:endParaRPr lang="ar-EG" dirty="0">
              <a:solidFill>
                <a:schemeClr val="bg1"/>
              </a:solidFill>
            </a:endParaRP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(</a:t>
            </a:r>
            <a:r>
              <a:rPr lang="ar-EG" b="1" dirty="0" smtClean="0">
                <a:solidFill>
                  <a:schemeClr val="bg1"/>
                </a:solidFill>
              </a:rPr>
              <a:t>(</a:t>
            </a:r>
            <a:r>
              <a:rPr lang="en-US" b="1" dirty="0" smtClean="0">
                <a:solidFill>
                  <a:schemeClr val="bg1"/>
                </a:solidFill>
              </a:rPr>
              <a:t>align-items</a:t>
            </a:r>
            <a:r>
              <a:rPr lang="en-US" b="1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ar-EG" dirty="0">
                <a:solidFill>
                  <a:schemeClr val="bg1"/>
                </a:solidFill>
              </a:rPr>
              <a:t>هو اللي بيرتّب العناصر </a:t>
            </a:r>
            <a:r>
              <a:rPr lang="ar-EG" b="1" dirty="0">
                <a:solidFill>
                  <a:schemeClr val="bg1"/>
                </a:solidFill>
              </a:rPr>
              <a:t>يمين وشمال</a:t>
            </a:r>
            <a:r>
              <a:rPr lang="ar-EG" dirty="0">
                <a:solidFill>
                  <a:schemeClr val="bg1"/>
                </a:solidFill>
              </a:rPr>
              <a:t>.</a:t>
            </a: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------------------------------------------------------------------</a:t>
            </a:r>
          </a:p>
          <a:p>
            <a:pPr algn="r"/>
            <a:r>
              <a:rPr lang="ar-EG" dirty="0" smtClean="0">
                <a:solidFill>
                  <a:schemeClr val="bg1"/>
                </a:solidFill>
              </a:rPr>
              <a:t>أما </a:t>
            </a:r>
            <a:r>
              <a:rPr lang="ar-EG" dirty="0">
                <a:solidFill>
                  <a:schemeClr val="bg1"/>
                </a:solidFill>
              </a:rPr>
              <a:t>لو الاتجاه العادي اللي هو</a:t>
            </a:r>
            <a:br>
              <a:rPr lang="ar-EG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(</a:t>
            </a:r>
            <a:r>
              <a:rPr lang="en-US" b="1" dirty="0" smtClean="0">
                <a:solidFill>
                  <a:schemeClr val="bg1"/>
                </a:solidFill>
              </a:rPr>
              <a:t>flex-direction</a:t>
            </a:r>
            <a:r>
              <a:rPr lang="en-US" b="1" dirty="0">
                <a:solidFill>
                  <a:schemeClr val="bg1"/>
                </a:solidFill>
              </a:rPr>
              <a:t>: row)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ar-EG" dirty="0">
                <a:solidFill>
                  <a:schemeClr val="bg1"/>
                </a:solidFill>
              </a:rPr>
              <a:t>فالعكس بيحصل:</a:t>
            </a:r>
          </a:p>
          <a:p>
            <a:pPr algn="r"/>
            <a:r>
              <a:rPr lang="en-US" b="1" dirty="0" smtClean="0">
                <a:solidFill>
                  <a:schemeClr val="bg1"/>
                </a:solidFill>
              </a:rPr>
              <a:t>(justify-content) 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ar-EG" b="1" dirty="0">
                <a:solidFill>
                  <a:schemeClr val="bg1"/>
                </a:solidFill>
              </a:rPr>
              <a:t>يمين </a:t>
            </a:r>
            <a:r>
              <a:rPr lang="ar-EG" b="1" dirty="0" smtClean="0">
                <a:solidFill>
                  <a:schemeClr val="bg1"/>
                </a:solidFill>
              </a:rPr>
              <a:t>وشمال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ar-EG" dirty="0" smtClean="0">
                <a:solidFill>
                  <a:schemeClr val="bg1"/>
                </a:solidFill>
              </a:rPr>
              <a:t>بيظبط </a:t>
            </a:r>
            <a:r>
              <a:rPr lang="ar-EG" dirty="0">
                <a:solidFill>
                  <a:schemeClr val="bg1"/>
                </a:solidFill>
              </a:rPr>
              <a:t>الاتجاه </a:t>
            </a:r>
            <a:r>
              <a:rPr lang="ar-EG" dirty="0" smtClean="0">
                <a:solidFill>
                  <a:schemeClr val="bg1"/>
                </a:solidFill>
              </a:rPr>
              <a:t>الأفقي.</a:t>
            </a:r>
            <a:endParaRPr lang="ar-EG" dirty="0">
              <a:solidFill>
                <a:schemeClr val="bg1"/>
              </a:solidFill>
            </a:endParaRP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(</a:t>
            </a:r>
            <a:r>
              <a:rPr lang="en-US" b="1" dirty="0" smtClean="0">
                <a:solidFill>
                  <a:schemeClr val="bg1"/>
                </a:solidFill>
              </a:rPr>
              <a:t>align-items)</a:t>
            </a:r>
            <a:r>
              <a:rPr lang="ar-EG" b="1" dirty="0">
                <a:solidFill>
                  <a:schemeClr val="bg1"/>
                </a:solidFill>
              </a:rPr>
              <a:t> فوق وتحت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ar-EG" dirty="0">
                <a:solidFill>
                  <a:schemeClr val="bg1"/>
                </a:solidFill>
              </a:rPr>
              <a:t>بيظبط الاتجاه الرأسي.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0356"/>
            <a:ext cx="66435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Smooth Changes: Transition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5726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CSS transition makes changes to elements happen slowly, not instantly. It's like a smooth fade or growth!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49805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Transitions allow you to define animated changes for CSS properties. Instead of an abrupt change, the property changes over a set duration.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038832"/>
            <a:ext cx="4215289" cy="4250412"/>
          </a:xfrm>
          <a:prstGeom prst="roundRect">
            <a:avLst>
              <a:gd name="adj" fmla="val 70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5008" y="3260050"/>
            <a:ext cx="302585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a CSS Transition?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15008" y="3689271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makes a property change from one state to another over a set time. For example, a button might grow bigger when you point at it.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038832"/>
            <a:ext cx="4215408" cy="4250412"/>
          </a:xfrm>
          <a:prstGeom prst="roundRect">
            <a:avLst>
              <a:gd name="adj" fmla="val 70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28655" y="32600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it Works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28655" y="3689271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tell CSS which property to change (like size or colour), how long it should take, and how fast it should go (like slow at start, fast at end).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3038832"/>
            <a:ext cx="4215289" cy="4250412"/>
          </a:xfrm>
          <a:prstGeom prst="roundRect">
            <a:avLst>
              <a:gd name="adj" fmla="val 70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42421" y="3260050"/>
            <a:ext cx="33060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Example: Button Gets Bigger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842421" y="3689271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put your mouse over a button, it can smoothly grow in size. This makes the website feel more alive.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842421" y="4865132"/>
            <a:ext cx="3772853" cy="2202894"/>
          </a:xfrm>
          <a:prstGeom prst="roundRect">
            <a:avLst>
              <a:gd name="adj" fmla="val 1351"/>
            </a:avLst>
          </a:prstGeom>
          <a:solidFill>
            <a:srgbClr val="2D3440"/>
          </a:solidFill>
          <a:ln/>
        </p:spPr>
      </p:sp>
      <p:sp>
        <p:nvSpPr>
          <p:cNvPr id="15" name="Shape 13"/>
          <p:cNvSpPr/>
          <p:nvPr/>
        </p:nvSpPr>
        <p:spPr>
          <a:xfrm>
            <a:off x="9832538" y="4865132"/>
            <a:ext cx="3792617" cy="2202894"/>
          </a:xfrm>
          <a:prstGeom prst="roundRect">
            <a:avLst>
              <a:gd name="adj" fmla="val 1351"/>
            </a:avLst>
          </a:prstGeom>
          <a:solidFill>
            <a:srgbClr val="2D344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30897" y="5013960"/>
            <a:ext cx="3395901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.button {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50" dirty="0" smtClean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transition-</a:t>
            </a:r>
            <a:r>
              <a:rPr lang="en-US" sz="1550" dirty="0" err="1" smtClean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deley</a:t>
            </a:r>
            <a:r>
              <a:rPr lang="en-US" sz="1550" dirty="0" smtClean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.5s;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 smtClean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</a:rPr>
              <a:t> Transition-duration: 1s;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 smtClean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</a:rPr>
              <a:t> transition-property: ;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</a:rPr>
              <a:t>}</a:t>
            </a:r>
            <a:endParaRPr lang="en-US" sz="1550" dirty="0" smtClean="0">
              <a:solidFill>
                <a:srgbClr val="D6E5EF"/>
              </a:solidFill>
              <a:highlight>
                <a:srgbClr val="2D3440"/>
              </a:highlight>
              <a:latin typeface="Consolas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052" y="418028"/>
            <a:ext cx="5055870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Moving Pictures: Animation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08052" y="1197054"/>
            <a:ext cx="13414296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CSS animations are more powerful than transitions. They let you create complex movements and changes over time, defining many steps.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8052" y="1611273"/>
            <a:ext cx="13414296" cy="2679025"/>
          </a:xfrm>
          <a:prstGeom prst="roundRect">
            <a:avLst>
              <a:gd name="adj" fmla="val 851"/>
            </a:avLst>
          </a:prstGeom>
          <a:solidFill>
            <a:srgbClr val="3F4652"/>
          </a:solidFill>
          <a:ln/>
        </p:spPr>
      </p:sp>
      <p:sp>
        <p:nvSpPr>
          <p:cNvPr id="5" name="Shape 3"/>
          <p:cNvSpPr/>
          <p:nvPr/>
        </p:nvSpPr>
        <p:spPr>
          <a:xfrm>
            <a:off x="608052" y="1611273"/>
            <a:ext cx="6707148" cy="1461135"/>
          </a:xfrm>
          <a:prstGeom prst="roundRect">
            <a:avLst>
              <a:gd name="adj" fmla="val 1561"/>
            </a:avLst>
          </a:prstGeom>
          <a:solidFill>
            <a:srgbClr val="3F4652"/>
          </a:solidFill>
          <a:ln/>
        </p:spPr>
      </p:sp>
      <p:sp>
        <p:nvSpPr>
          <p:cNvPr id="6" name="Text 4"/>
          <p:cNvSpPr/>
          <p:nvPr/>
        </p:nvSpPr>
        <p:spPr>
          <a:xfrm>
            <a:off x="759976" y="1763197"/>
            <a:ext cx="2192893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CSS Animation?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9976" y="2091928"/>
            <a:ext cx="6403300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It's like making a short film for an element. You tell it exactly what to do at different times.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0" y="1611273"/>
            <a:ext cx="6707148" cy="1461135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1611273"/>
            <a:ext cx="15240" cy="1461135"/>
          </a:xfrm>
          <a:prstGeom prst="roundRect">
            <a:avLst>
              <a:gd name="adj" fmla="val 149626"/>
            </a:avLst>
          </a:prstGeom>
          <a:solidFill>
            <a:srgbClr val="585F6B"/>
          </a:solidFill>
          <a:ln/>
        </p:spPr>
      </p:sp>
      <p:sp>
        <p:nvSpPr>
          <p:cNvPr id="10" name="Text 8"/>
          <p:cNvSpPr/>
          <p:nvPr/>
        </p:nvSpPr>
        <p:spPr>
          <a:xfrm>
            <a:off x="7467124" y="1763197"/>
            <a:ext cx="190023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@keyframes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67124" y="2091928"/>
            <a:ext cx="6403300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where you set the "scenes" for your animation. You say what the element looks like at 0% (start), 50% (middle), and 100% (end) of the animation.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67124" y="2669619"/>
            <a:ext cx="6403300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mymove { ... 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52" y="3072408"/>
            <a:ext cx="6707148" cy="1217890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052" y="3072408"/>
            <a:ext cx="6707148" cy="15240"/>
          </a:xfrm>
          <a:prstGeom prst="roundRect">
            <a:avLst>
              <a:gd name="adj" fmla="val 149626"/>
            </a:avLst>
          </a:prstGeom>
          <a:solidFill>
            <a:srgbClr val="585F6B"/>
          </a:solidFill>
          <a:ln/>
        </p:spPr>
      </p:sp>
      <p:sp>
        <p:nvSpPr>
          <p:cNvPr id="15" name="Text 13"/>
          <p:cNvSpPr/>
          <p:nvPr/>
        </p:nvSpPr>
        <p:spPr>
          <a:xfrm>
            <a:off x="759976" y="3224332"/>
            <a:ext cx="190023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animation-duration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9976" y="3553063"/>
            <a:ext cx="6403300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long the animation takes from start to finish. For example, 2 seconds.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59976" y="3887510"/>
            <a:ext cx="6403300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animation-duration: 2s;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0" y="3072408"/>
            <a:ext cx="6707148" cy="1217890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3072408"/>
            <a:ext cx="15240" cy="1217890"/>
          </a:xfrm>
          <a:prstGeom prst="roundRect">
            <a:avLst>
              <a:gd name="adj" fmla="val 149626"/>
            </a:avLst>
          </a:prstGeom>
          <a:solidFill>
            <a:srgbClr val="585F6B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3072408"/>
            <a:ext cx="6707148" cy="15240"/>
          </a:xfrm>
          <a:prstGeom prst="roundRect">
            <a:avLst>
              <a:gd name="adj" fmla="val 149626"/>
            </a:avLst>
          </a:prstGeom>
          <a:solidFill>
            <a:srgbClr val="585F6B"/>
          </a:solidFill>
          <a:ln/>
        </p:spPr>
      </p:sp>
      <p:sp>
        <p:nvSpPr>
          <p:cNvPr id="21" name="Text 19"/>
          <p:cNvSpPr/>
          <p:nvPr/>
        </p:nvSpPr>
        <p:spPr>
          <a:xfrm>
            <a:off x="7467124" y="3224332"/>
            <a:ext cx="190023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animation-name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67124" y="3553063"/>
            <a:ext cx="6403300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name you give to your </a:t>
            </a:r>
            <a:r>
              <a:rPr lang="en-US" sz="11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@keyframes</a:t>
            </a: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rule, so you can use it on an element.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67124" y="3887510"/>
            <a:ext cx="6403300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animation-name: mymove;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8052" y="4518303"/>
            <a:ext cx="203465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Example: A Box Moves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08052" y="4983837"/>
            <a:ext cx="13414296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Here, a box moves from the left side to the right side of its space.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8052" y="5398056"/>
            <a:ext cx="13414296" cy="2417088"/>
          </a:xfrm>
          <a:prstGeom prst="roundRect">
            <a:avLst>
              <a:gd name="adj" fmla="val 943"/>
            </a:avLst>
          </a:prstGeom>
          <a:solidFill>
            <a:srgbClr val="2D3440"/>
          </a:solidFill>
          <a:ln/>
        </p:spPr>
      </p:sp>
      <p:sp>
        <p:nvSpPr>
          <p:cNvPr id="27" name="Shape 25"/>
          <p:cNvSpPr/>
          <p:nvPr/>
        </p:nvSpPr>
        <p:spPr>
          <a:xfrm>
            <a:off x="600551" y="5398056"/>
            <a:ext cx="13429298" cy="2417088"/>
          </a:xfrm>
          <a:prstGeom prst="roundRect">
            <a:avLst>
              <a:gd name="adj" fmla="val 943"/>
            </a:avLst>
          </a:prstGeom>
          <a:solidFill>
            <a:srgbClr val="2D3440"/>
          </a:solidFill>
          <a:ln/>
        </p:spPr>
      </p:sp>
      <p:sp>
        <p:nvSpPr>
          <p:cNvPr id="28" name="Text 26"/>
          <p:cNvSpPr/>
          <p:nvPr/>
        </p:nvSpPr>
        <p:spPr>
          <a:xfrm>
            <a:off x="752475" y="5511998"/>
            <a:ext cx="13125450" cy="2189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slideBox {</a:t>
            </a:r>
            <a:endParaRPr lang="en-US" sz="11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from { left: 0px; }</a:t>
            </a:r>
            <a:endParaRPr lang="en-US" sz="11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to { left: 200px; }</a:t>
            </a:r>
            <a:endParaRPr lang="en-US" sz="11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.box {</a:t>
            </a:r>
            <a:endParaRPr lang="en-US" sz="11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150" dirty="0" smtClean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animation-name</a:t>
            </a:r>
            <a:r>
              <a:rPr lang="en-US" sz="1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slideBox;</a:t>
            </a:r>
            <a:endParaRPr lang="en-US" sz="11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animation-duration: 3s</a:t>
            </a:r>
            <a:r>
              <a:rPr lang="en-US" sz="1150" dirty="0" smtClean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r>
              <a:rPr lang="en-US" sz="1200" dirty="0">
                <a:solidFill>
                  <a:schemeClr val="bg1"/>
                </a:solidFill>
              </a:rPr>
              <a:t>    animation-timing-function: linear;</a:t>
            </a:r>
          </a:p>
          <a:p>
            <a:r>
              <a:rPr lang="en-US" sz="1200" dirty="0">
                <a:solidFill>
                  <a:schemeClr val="bg1"/>
                </a:solidFill>
              </a:rPr>
              <a:t>    animation-iteration-count: infinite;</a:t>
            </a:r>
          </a:p>
          <a:p>
            <a:r>
              <a:rPr lang="en-US" sz="1200" dirty="0">
                <a:solidFill>
                  <a:schemeClr val="bg1"/>
                </a:solidFill>
              </a:rPr>
              <a:t>    animation-direction: alternate</a:t>
            </a:r>
            <a:r>
              <a:rPr lang="en-US" sz="1200" dirty="0" smtClean="0">
                <a:solidFill>
                  <a:schemeClr val="bg1"/>
                </a:solidFill>
              </a:rPr>
              <a:t>;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703" y="463868"/>
            <a:ext cx="8841581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We Learned Today: A Quick Look Back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2703" y="1325880"/>
            <a:ext cx="13284994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We've covered many exciting ways to make your websites shine!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72703" y="1784152"/>
            <a:ext cx="378381" cy="378381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5" name="Text 3"/>
          <p:cNvSpPr/>
          <p:nvPr/>
        </p:nvSpPr>
        <p:spPr>
          <a:xfrm>
            <a:off x="735747" y="1815703"/>
            <a:ext cx="252293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19200" y="1815584"/>
            <a:ext cx="2522934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Display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19200" y="2231708"/>
            <a:ext cx="12738497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elements show up: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(new line),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inline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(same line),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inline-block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(same line, set size),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none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(hidden).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703" y="2837140"/>
            <a:ext cx="378381" cy="378381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9" name="Text 7"/>
          <p:cNvSpPr/>
          <p:nvPr/>
        </p:nvSpPr>
        <p:spPr>
          <a:xfrm>
            <a:off x="735747" y="2868692"/>
            <a:ext cx="252293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19200" y="2868573"/>
            <a:ext cx="2522934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Position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19200" y="3284696"/>
            <a:ext cx="12738497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elements sit: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static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(normal),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(move from normal),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absolute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(move from parent),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(stays put),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sticky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(scroll then fixed).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703" y="3890129"/>
            <a:ext cx="378381" cy="378381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735747" y="3921681"/>
            <a:ext cx="252293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19200" y="3921562"/>
            <a:ext cx="2522934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Flexbox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19200" y="4337685"/>
            <a:ext cx="12738497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Arranging items in rows or columns easily using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display: flex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flex-direction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justify-content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align-items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flex-wrap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flex-grow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703" y="4956934"/>
            <a:ext cx="378381" cy="378381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21" name="Text 19"/>
          <p:cNvSpPr/>
          <p:nvPr/>
        </p:nvSpPr>
        <p:spPr>
          <a:xfrm>
            <a:off x="735746" y="4956934"/>
            <a:ext cx="252293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 smtClean="0"/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19200" y="4846268"/>
            <a:ext cx="2522934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Transition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19200" y="5114573"/>
            <a:ext cx="12738497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Making smooth changes for properties, like a button slowly getting bigger.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5746" y="5878217"/>
            <a:ext cx="378381" cy="378381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61893" y="5878217"/>
            <a:ext cx="252293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19200" y="5752129"/>
            <a:ext cx="2522934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Animation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19200" y="6092741"/>
            <a:ext cx="12738497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complex movements over time using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@keyframes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animation-duration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animation-name</a:t>
            </a: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1053</Words>
  <Application>Microsoft Office PowerPoint</Application>
  <PresentationFormat>Custom</PresentationFormat>
  <Paragraphs>133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Consolas</vt:lpstr>
      <vt:lpstr>Roboto Slab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Saeed</dc:creator>
  <cp:lastModifiedBy>RTX</cp:lastModifiedBy>
  <cp:revision>14</cp:revision>
  <dcterms:created xsi:type="dcterms:W3CDTF">2025-12-10T03:02:05Z</dcterms:created>
  <dcterms:modified xsi:type="dcterms:W3CDTF">2025-12-26T17:58:52Z</dcterms:modified>
</cp:coreProperties>
</file>